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image" Target="../media/image-9-1.png"/><Relationship Id="rId5" Type="http://schemas.openxmlformats.org/officeDocument/2006/relationships/image" Target="../media/image-9-1.png"/><Relationship Id="rId6" Type="http://schemas.openxmlformats.org/officeDocument/2006/relationships/image" Target="../media/image-9-1.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1"/>
        </a:solidFill>
      </p:bgPr>
    </p:bg>
    <p:spTree>
      <p:nvGrpSpPr>
        <p:cNvPr id="1" name=""/>
        <p:cNvGrpSpPr/>
        <p:nvPr/>
      </p:nvGrpSpPr>
      <p:grpSpPr>
        <a:xfrm>
          <a:off x="0" y="0"/>
          <a:ext cx="0" cy="0"/>
          <a:chOff x="0" y="0"/>
          <a:chExt cx="0" cy="0"/>
        </a:xfrm>
      </p:grpSpPr>
      <p:sp>
        <p:nvSpPr>
          <p:cNvPr id="2" name="Shape 0"/>
          <p:cNvSpPr/>
          <p:nvPr/>
        </p:nvSpPr>
        <p:spPr>
          <a:xfrm>
            <a:off x="9692640" y="-1645920"/>
            <a:ext cx="5029200" cy="5029200"/>
          </a:xfrm>
          <a:prstGeom prst="ellipse">
            <a:avLst/>
          </a:prstGeom>
          <a:solidFill>
            <a:srgbClr val="1E2761"/>
          </a:solidFill>
          <a:ln/>
        </p:spPr>
      </p:sp>
      <p:sp>
        <p:nvSpPr>
          <p:cNvPr id="3" name="Shape 1"/>
          <p:cNvSpPr/>
          <p:nvPr/>
        </p:nvSpPr>
        <p:spPr>
          <a:xfrm>
            <a:off x="11247120" y="2743200"/>
            <a:ext cx="3840480" cy="3840480"/>
          </a:xfrm>
          <a:prstGeom prst="ellipse">
            <a:avLst/>
          </a:prstGeom>
          <a:solidFill>
            <a:srgbClr val="1A2352"/>
          </a:solidFill>
          <a:ln/>
        </p:spPr>
      </p:sp>
      <p:pic>
        <p:nvPicPr>
          <p:cNvPr id="4" name="Image 0" descr="/home/claude/icons/university_white.png">    </p:cNvPr>
          <p:cNvPicPr>
            <a:picLocks noChangeAspect="1"/>
          </p:cNvPicPr>
          <p:nvPr/>
        </p:nvPicPr>
        <p:blipFill>
          <a:blip r:embed="rId1"/>
          <a:stretch>
            <a:fillRect/>
          </a:stretch>
        </p:blipFill>
        <p:spPr>
          <a:xfrm>
            <a:off x="640080" y="502920"/>
            <a:ext cx="384048" cy="384048"/>
          </a:xfrm>
          <a:prstGeom prst="rect">
            <a:avLst/>
          </a:prstGeom>
        </p:spPr>
      </p:pic>
      <p:sp>
        <p:nvSpPr>
          <p:cNvPr id="5" name="Text 2"/>
          <p:cNvSpPr/>
          <p:nvPr/>
        </p:nvSpPr>
        <p:spPr>
          <a:xfrm>
            <a:off x="1143000" y="502920"/>
            <a:ext cx="6400800" cy="384048"/>
          </a:xfrm>
          <a:prstGeom prst="rect">
            <a:avLst/>
          </a:prstGeom>
          <a:noFill/>
          <a:ln/>
        </p:spPr>
        <p:txBody>
          <a:bodyPr wrap="square" lIns="0" tIns="0" rIns="0" bIns="0" rtlCol="0" anchor="ctr"/>
          <a:lstStyle/>
          <a:p>
            <a:pPr indent="0" marL="0">
              <a:buNone/>
            </a:pPr>
            <a:r>
              <a:rPr lang="en-US" sz="1300" b="1" spc="100" kern="0" dirty="0">
                <a:solidFill>
                  <a:srgbClr val="FFFFFF"/>
                </a:solidFill>
                <a:latin typeface="Calibri" pitchFamily="34" charset="0"/>
                <a:ea typeface="Calibri" pitchFamily="34" charset="-122"/>
                <a:cs typeface="Calibri" pitchFamily="34" charset="-120"/>
              </a:rPr>
              <a:t>IILM UNIVERSITY, GREATER NOIDA</a:t>
            </a:r>
            <a:endParaRPr lang="en-US" sz="1300" dirty="0"/>
          </a:p>
        </p:txBody>
      </p:sp>
      <p:sp>
        <p:nvSpPr>
          <p:cNvPr id="6" name="Text 3"/>
          <p:cNvSpPr/>
          <p:nvPr/>
        </p:nvSpPr>
        <p:spPr>
          <a:xfrm>
            <a:off x="640080" y="1920240"/>
            <a:ext cx="7315200" cy="320040"/>
          </a:xfrm>
          <a:prstGeom prst="rect">
            <a:avLst/>
          </a:prstGeom>
          <a:noFill/>
          <a:ln/>
        </p:spPr>
        <p:txBody>
          <a:bodyPr wrap="square" lIns="0" tIns="0" rIns="0" bIns="0" rtlCol="0" anchor="ctr"/>
          <a:lstStyle/>
          <a:p>
            <a:pPr indent="0" marL="0">
              <a:buNone/>
            </a:pPr>
            <a:r>
              <a:rPr lang="en-US" sz="1200" b="1" spc="200" kern="0" dirty="0">
                <a:solidFill>
                  <a:srgbClr val="F0A93A"/>
                </a:solidFill>
                <a:latin typeface="Calibri" pitchFamily="34" charset="0"/>
                <a:ea typeface="Calibri" pitchFamily="34" charset="-122"/>
                <a:cs typeface="Calibri" pitchFamily="34" charset="-120"/>
              </a:rPr>
              <a:t>INTERNSHIP REPORT PRESENTATION</a:t>
            </a:r>
            <a:endParaRPr lang="en-US" sz="1200" dirty="0"/>
          </a:p>
        </p:txBody>
      </p:sp>
      <p:sp>
        <p:nvSpPr>
          <p:cNvPr id="7" name="Text 4"/>
          <p:cNvSpPr/>
          <p:nvPr/>
        </p:nvSpPr>
        <p:spPr>
          <a:xfrm>
            <a:off x="621792" y="2240280"/>
            <a:ext cx="91440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Cisco Networking Academy</a:t>
            </a:r>
            <a:endParaRPr lang="en-US" sz="4400" dirty="0"/>
          </a:p>
        </p:txBody>
      </p:sp>
      <p:sp>
        <p:nvSpPr>
          <p:cNvPr id="8" name="Text 5"/>
          <p:cNvSpPr/>
          <p:nvPr/>
        </p:nvSpPr>
        <p:spPr>
          <a:xfrm>
            <a:off x="640080" y="3063240"/>
            <a:ext cx="8229600" cy="548640"/>
          </a:xfrm>
          <a:prstGeom prst="rect">
            <a:avLst/>
          </a:prstGeom>
          <a:noFill/>
          <a:ln/>
        </p:spPr>
        <p:txBody>
          <a:bodyPr wrap="square" lIns="0" tIns="0" rIns="0" bIns="0" rtlCol="0" anchor="ctr"/>
          <a:lstStyle/>
          <a:p>
            <a:pPr indent="0" marL="0">
              <a:buNone/>
            </a:pPr>
            <a:r>
              <a:rPr lang="en-US" sz="2600" dirty="0">
                <a:solidFill>
                  <a:srgbClr val="C7D0E8"/>
                </a:solidFill>
                <a:latin typeface="Cambria" pitchFamily="34" charset="0"/>
                <a:ea typeface="Cambria" pitchFamily="34" charset="-122"/>
                <a:cs typeface="Cambria" pitchFamily="34" charset="-120"/>
              </a:rPr>
              <a:t>Networking Internship</a:t>
            </a:r>
            <a:endParaRPr lang="en-US" sz="2600" dirty="0"/>
          </a:p>
        </p:txBody>
      </p:sp>
      <p:sp>
        <p:nvSpPr>
          <p:cNvPr id="9" name="Text 6"/>
          <p:cNvSpPr/>
          <p:nvPr/>
        </p:nvSpPr>
        <p:spPr>
          <a:xfrm>
            <a:off x="640080" y="3657600"/>
            <a:ext cx="8686800" cy="365760"/>
          </a:xfrm>
          <a:prstGeom prst="rect">
            <a:avLst/>
          </a:prstGeom>
          <a:noFill/>
          <a:ln/>
        </p:spPr>
        <p:txBody>
          <a:bodyPr wrap="square" lIns="0" tIns="0" rIns="0" bIns="0" rtlCol="0" anchor="ctr"/>
          <a:lstStyle/>
          <a:p>
            <a:pPr indent="0" marL="0">
              <a:buNone/>
            </a:pPr>
            <a:r>
              <a:rPr lang="en-US" sz="1300" dirty="0">
                <a:solidFill>
                  <a:srgbClr val="C7D0E8"/>
                </a:solidFill>
                <a:latin typeface="Calibri" pitchFamily="34" charset="0"/>
                <a:ea typeface="Calibri" pitchFamily="34" charset="-122"/>
                <a:cs typeface="Calibri" pitchFamily="34" charset="-120"/>
              </a:rPr>
              <a:t>Cisco Networking Academy Program  |  Delivered by IILM University</a:t>
            </a:r>
            <a:endParaRPr lang="en-US" sz="1300" dirty="0"/>
          </a:p>
        </p:txBody>
      </p:sp>
      <p:sp>
        <p:nvSpPr>
          <p:cNvPr id="10" name="Shape 7"/>
          <p:cNvSpPr/>
          <p:nvPr/>
        </p:nvSpPr>
        <p:spPr>
          <a:xfrm>
            <a:off x="640080" y="4206240"/>
            <a:ext cx="1920240" cy="0"/>
          </a:xfrm>
          <a:prstGeom prst="line">
            <a:avLst/>
          </a:prstGeom>
          <a:noFill/>
          <a:ln w="25400">
            <a:solidFill>
              <a:srgbClr val="F0A93A"/>
            </a:solidFill>
            <a:prstDash val="solid"/>
          </a:ln>
        </p:spPr>
      </p:sp>
      <p:sp>
        <p:nvSpPr>
          <p:cNvPr id="11" name="Text 8"/>
          <p:cNvSpPr/>
          <p:nvPr/>
        </p:nvSpPr>
        <p:spPr>
          <a:xfrm>
            <a:off x="640080" y="4434840"/>
            <a:ext cx="731520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Yadav Hitesh Shravan</a:t>
            </a:r>
            <a:endParaRPr lang="en-US" sz="1700" dirty="0"/>
          </a:p>
        </p:txBody>
      </p:sp>
      <p:sp>
        <p:nvSpPr>
          <p:cNvPr id="12" name="Text 9"/>
          <p:cNvSpPr/>
          <p:nvPr/>
        </p:nvSpPr>
        <p:spPr>
          <a:xfrm>
            <a:off x="640080" y="4800600"/>
            <a:ext cx="7315200" cy="320040"/>
          </a:xfrm>
          <a:prstGeom prst="rect">
            <a:avLst/>
          </a:prstGeom>
          <a:noFill/>
          <a:ln/>
        </p:spPr>
        <p:txBody>
          <a:bodyPr wrap="square" lIns="0" tIns="0" rIns="0" bIns="0" rtlCol="0" anchor="ctr"/>
          <a:lstStyle/>
          <a:p>
            <a:pPr indent="0" marL="0">
              <a:buNone/>
            </a:pPr>
            <a:r>
              <a:rPr lang="en-US" sz="1300" dirty="0">
                <a:solidFill>
                  <a:srgbClr val="C7D0E8"/>
                </a:solidFill>
                <a:latin typeface="Calibri" pitchFamily="34" charset="0"/>
                <a:ea typeface="Calibri" pitchFamily="34" charset="-122"/>
                <a:cs typeface="Calibri" pitchFamily="34" charset="-120"/>
              </a:rPr>
              <a:t>Roll No. 2410031458  |  Section 3CSE8  |  B.Tech CSE</a:t>
            </a:r>
            <a:endParaRPr lang="en-US" sz="1300" dirty="0"/>
          </a:p>
        </p:txBody>
      </p:sp>
      <p:sp>
        <p:nvSpPr>
          <p:cNvPr id="13" name="Text 10"/>
          <p:cNvSpPr/>
          <p:nvPr/>
        </p:nvSpPr>
        <p:spPr>
          <a:xfrm>
            <a:off x="640080" y="5102352"/>
            <a:ext cx="7315200" cy="320040"/>
          </a:xfrm>
          <a:prstGeom prst="rect">
            <a:avLst/>
          </a:prstGeom>
          <a:noFill/>
          <a:ln/>
        </p:spPr>
        <p:txBody>
          <a:bodyPr wrap="square" lIns="0" tIns="0" rIns="0" bIns="0" rtlCol="0" anchor="ctr"/>
          <a:lstStyle/>
          <a:p>
            <a:pPr indent="0" marL="0">
              <a:buNone/>
            </a:pPr>
            <a:r>
              <a:rPr lang="en-US" sz="1300" dirty="0">
                <a:solidFill>
                  <a:srgbClr val="C7D0E8"/>
                </a:solidFill>
                <a:latin typeface="Calibri" pitchFamily="34" charset="0"/>
                <a:ea typeface="Calibri" pitchFamily="34" charset="-122"/>
                <a:cs typeface="Calibri" pitchFamily="34" charset="-120"/>
              </a:rPr>
              <a:t>June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1E2761"/>
          </a:solidFill>
          <a:ln/>
        </p:spPr>
      </p:sp>
      <p:sp>
        <p:nvSpPr>
          <p:cNvPr id="3" name="Shape 1"/>
          <p:cNvSpPr/>
          <p:nvPr/>
        </p:nvSpPr>
        <p:spPr>
          <a:xfrm>
            <a:off x="-1371600" y="4846320"/>
            <a:ext cx="3657600" cy="3657600"/>
          </a:xfrm>
          <a:prstGeom prst="ellipse">
            <a:avLst/>
          </a:prstGeom>
          <a:solidFill>
            <a:srgbClr val="263070"/>
          </a:solidFill>
          <a:ln/>
        </p:spPr>
      </p:sp>
      <p:sp>
        <p:nvSpPr>
          <p:cNvPr id="4" name="Shape 2"/>
          <p:cNvSpPr/>
          <p:nvPr/>
        </p:nvSpPr>
        <p:spPr>
          <a:xfrm>
            <a:off x="1188720" y="1005840"/>
            <a:ext cx="1463040" cy="1463040"/>
          </a:xfrm>
          <a:prstGeom prst="ellipse">
            <a:avLst/>
          </a:prstGeom>
          <a:solidFill>
            <a:srgbClr val="2A3568"/>
          </a:solidFill>
          <a:ln/>
        </p:spPr>
      </p:sp>
      <p:pic>
        <p:nvPicPr>
          <p:cNvPr id="5" name="Image 0" descr="/home/claude/icons/cap_white.png">    </p:cNvPr>
          <p:cNvPicPr>
            <a:picLocks noChangeAspect="1"/>
          </p:cNvPicPr>
          <p:nvPr/>
        </p:nvPicPr>
        <p:blipFill>
          <a:blip r:embed="rId1"/>
          <a:stretch>
            <a:fillRect/>
          </a:stretch>
        </p:blipFill>
        <p:spPr>
          <a:xfrm>
            <a:off x="1600200" y="1234440"/>
            <a:ext cx="640080" cy="640080"/>
          </a:xfrm>
          <a:prstGeom prst="rect">
            <a:avLst/>
          </a:prstGeom>
        </p:spPr>
      </p:pic>
      <p:sp>
        <p:nvSpPr>
          <p:cNvPr id="6" name="Text 3"/>
          <p:cNvSpPr/>
          <p:nvPr/>
        </p:nvSpPr>
        <p:spPr>
          <a:xfrm>
            <a:off x="365760" y="2743200"/>
            <a:ext cx="329184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Yadav Hitesh</a:t>
            </a:r>
            <a:endParaRPr lang="en-US" sz="2600" dirty="0"/>
          </a:p>
          <a:p>
            <a:pPr algn="ctr" indent="0" marL="0">
              <a:buNone/>
            </a:pPr>
            <a:r>
              <a:rPr lang="en-US" sz="2600" b="1" dirty="0">
                <a:solidFill>
                  <a:srgbClr val="FFFFFF"/>
                </a:solidFill>
                <a:latin typeface="Cambria" pitchFamily="34" charset="0"/>
                <a:ea typeface="Cambria" pitchFamily="34" charset="-122"/>
                <a:cs typeface="Cambria" pitchFamily="34" charset="-120"/>
              </a:rPr>
              <a:t>Shravan</a:t>
            </a:r>
            <a:endParaRPr lang="en-US" sz="2600" dirty="0"/>
          </a:p>
        </p:txBody>
      </p:sp>
      <p:sp>
        <p:nvSpPr>
          <p:cNvPr id="7" name="Text 4"/>
          <p:cNvSpPr/>
          <p:nvPr/>
        </p:nvSpPr>
        <p:spPr>
          <a:xfrm>
            <a:off x="365760" y="3794760"/>
            <a:ext cx="3291840" cy="457200"/>
          </a:xfrm>
          <a:prstGeom prst="rect">
            <a:avLst/>
          </a:prstGeom>
          <a:noFill/>
          <a:ln/>
        </p:spPr>
        <p:txBody>
          <a:bodyPr wrap="square" lIns="0" tIns="0" rIns="0" bIns="0" rtlCol="0" anchor="ctr"/>
          <a:lstStyle/>
          <a:p>
            <a:pPr algn="ctr" indent="0" marL="0">
              <a:buNone/>
            </a:pPr>
            <a:r>
              <a:rPr lang="en-US" sz="1250" dirty="0">
                <a:solidFill>
                  <a:srgbClr val="C7D0E8"/>
                </a:solidFill>
                <a:latin typeface="Calibri" pitchFamily="34" charset="0"/>
                <a:ea typeface="Calibri" pitchFamily="34" charset="-122"/>
                <a:cs typeface="Calibri" pitchFamily="34" charset="-120"/>
              </a:rPr>
              <a:t>B.Tech – Computer Science &amp; Engineering</a:t>
            </a:r>
            <a:endParaRPr lang="en-US" sz="1250" dirty="0"/>
          </a:p>
        </p:txBody>
      </p:sp>
      <p:sp>
        <p:nvSpPr>
          <p:cNvPr id="8" name="Text 5"/>
          <p:cNvSpPr/>
          <p:nvPr/>
        </p:nvSpPr>
        <p:spPr>
          <a:xfrm>
            <a:off x="4572000" y="640080"/>
            <a:ext cx="5486400" cy="320040"/>
          </a:xfrm>
          <a:prstGeom prst="rect">
            <a:avLst/>
          </a:prstGeom>
          <a:noFill/>
          <a:ln/>
        </p:spPr>
        <p:txBody>
          <a:bodyPr wrap="square" lIns="0" tIns="0" rIns="0" bIns="0" rtlCol="0" anchor="ctr"/>
          <a:lstStyle/>
          <a:p>
            <a:pPr indent="0" marL="0">
              <a:buNone/>
            </a:pPr>
            <a:r>
              <a:rPr lang="en-US" sz="1200" b="1" spc="200" kern="0" dirty="0">
                <a:solidFill>
                  <a:srgbClr val="F0A93A"/>
                </a:solidFill>
                <a:latin typeface="Calibri" pitchFamily="34" charset="0"/>
                <a:ea typeface="Calibri" pitchFamily="34" charset="-122"/>
                <a:cs typeface="Calibri" pitchFamily="34" charset="-120"/>
              </a:rPr>
              <a:t>ABOUT THE STUDENT</a:t>
            </a:r>
            <a:endParaRPr lang="en-US" sz="1200" dirty="0"/>
          </a:p>
        </p:txBody>
      </p:sp>
      <p:sp>
        <p:nvSpPr>
          <p:cNvPr id="9" name="Text 6"/>
          <p:cNvSpPr/>
          <p:nvPr/>
        </p:nvSpPr>
        <p:spPr>
          <a:xfrm>
            <a:off x="4526280" y="960120"/>
            <a:ext cx="6400800" cy="731520"/>
          </a:xfrm>
          <a:prstGeom prst="rect">
            <a:avLst/>
          </a:prstGeom>
          <a:noFill/>
          <a:ln/>
        </p:spPr>
        <p:txBody>
          <a:bodyPr wrap="square" lIns="0" tIns="0" rIns="0" bIns="0" rtlCol="0" anchor="ctr"/>
          <a:lstStyle/>
          <a:p>
            <a:pPr indent="0" marL="0">
              <a:buNone/>
            </a:pPr>
            <a:r>
              <a:rPr lang="en-US" sz="3000" b="1" dirty="0">
                <a:solidFill>
                  <a:srgbClr val="1B2456"/>
                </a:solidFill>
                <a:latin typeface="Cambria" pitchFamily="34" charset="0"/>
                <a:ea typeface="Cambria" pitchFamily="34" charset="-122"/>
                <a:cs typeface="Cambria" pitchFamily="34" charset="-120"/>
              </a:rPr>
              <a:t>Candidate Profile</a:t>
            </a:r>
            <a:endParaRPr lang="en-US" sz="3000" dirty="0"/>
          </a:p>
        </p:txBody>
      </p:sp>
      <p:sp>
        <p:nvSpPr>
          <p:cNvPr id="10" name="Shape 7"/>
          <p:cNvSpPr/>
          <p:nvPr/>
        </p:nvSpPr>
        <p:spPr>
          <a:xfrm>
            <a:off x="4572000" y="1965960"/>
            <a:ext cx="566928" cy="566928"/>
          </a:xfrm>
          <a:prstGeom prst="ellipse">
            <a:avLst/>
          </a:prstGeom>
          <a:solidFill>
            <a:srgbClr val="DCE3F7"/>
          </a:solidFill>
          <a:ln/>
        </p:spPr>
      </p:sp>
      <p:pic>
        <p:nvPicPr>
          <p:cNvPr id="11" name="Image 1" descr="/home/claude/icons/idcard_navy.png">    </p:cNvPr>
          <p:cNvPicPr>
            <a:picLocks noChangeAspect="1"/>
          </p:cNvPicPr>
          <p:nvPr/>
        </p:nvPicPr>
        <p:blipFill>
          <a:blip r:embed="rId2"/>
          <a:stretch>
            <a:fillRect/>
          </a:stretch>
        </p:blipFill>
        <p:spPr>
          <a:xfrm>
            <a:off x="4651370" y="2045330"/>
            <a:ext cx="408188" cy="408188"/>
          </a:xfrm>
          <a:prstGeom prst="rect">
            <a:avLst/>
          </a:prstGeom>
        </p:spPr>
      </p:pic>
      <p:sp>
        <p:nvSpPr>
          <p:cNvPr id="12" name="Text 8"/>
          <p:cNvSpPr/>
          <p:nvPr/>
        </p:nvSpPr>
        <p:spPr>
          <a:xfrm>
            <a:off x="5349240" y="1947672"/>
            <a:ext cx="5943600" cy="274320"/>
          </a:xfrm>
          <a:prstGeom prst="rect">
            <a:avLst/>
          </a:prstGeom>
          <a:noFill/>
          <a:ln/>
        </p:spPr>
        <p:txBody>
          <a:bodyPr wrap="square" lIns="0" tIns="0" rIns="0" bIns="0" rtlCol="0" anchor="ctr"/>
          <a:lstStyle/>
          <a:p>
            <a:pPr indent="0" marL="0">
              <a:buNone/>
            </a:pPr>
            <a:r>
              <a:rPr lang="en-US" sz="1100" b="1" spc="100" kern="0" dirty="0">
                <a:solidFill>
                  <a:srgbClr val="6B7280"/>
                </a:solidFill>
                <a:latin typeface="Calibri" pitchFamily="34" charset="0"/>
                <a:ea typeface="Calibri" pitchFamily="34" charset="-122"/>
                <a:cs typeface="Calibri" pitchFamily="34" charset="-120"/>
              </a:rPr>
              <a:t>ROLL NUMBER</a:t>
            </a:r>
            <a:endParaRPr lang="en-US" sz="1100" dirty="0"/>
          </a:p>
        </p:txBody>
      </p:sp>
      <p:sp>
        <p:nvSpPr>
          <p:cNvPr id="13" name="Text 9"/>
          <p:cNvSpPr/>
          <p:nvPr/>
        </p:nvSpPr>
        <p:spPr>
          <a:xfrm>
            <a:off x="5349240" y="2203704"/>
            <a:ext cx="6126480" cy="36576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2410031458</a:t>
            </a:r>
            <a:endParaRPr lang="en-US" sz="1500" dirty="0"/>
          </a:p>
        </p:txBody>
      </p:sp>
      <p:sp>
        <p:nvSpPr>
          <p:cNvPr id="14" name="Shape 10"/>
          <p:cNvSpPr/>
          <p:nvPr/>
        </p:nvSpPr>
        <p:spPr>
          <a:xfrm>
            <a:off x="4572000" y="2807208"/>
            <a:ext cx="566928" cy="566928"/>
          </a:xfrm>
          <a:prstGeom prst="ellipse">
            <a:avLst/>
          </a:prstGeom>
          <a:solidFill>
            <a:srgbClr val="DCE3F7"/>
          </a:solidFill>
          <a:ln/>
        </p:spPr>
      </p:sp>
      <p:pic>
        <p:nvPicPr>
          <p:cNvPr id="15" name="Image 2" descr="/home/claude/icons/university_navy.png">    </p:cNvPr>
          <p:cNvPicPr>
            <a:picLocks noChangeAspect="1"/>
          </p:cNvPicPr>
          <p:nvPr/>
        </p:nvPicPr>
        <p:blipFill>
          <a:blip r:embed="rId3"/>
          <a:stretch>
            <a:fillRect/>
          </a:stretch>
        </p:blipFill>
        <p:spPr>
          <a:xfrm>
            <a:off x="4651370" y="2886578"/>
            <a:ext cx="408188" cy="408188"/>
          </a:xfrm>
          <a:prstGeom prst="rect">
            <a:avLst/>
          </a:prstGeom>
        </p:spPr>
      </p:pic>
      <p:sp>
        <p:nvSpPr>
          <p:cNvPr id="16" name="Text 11"/>
          <p:cNvSpPr/>
          <p:nvPr/>
        </p:nvSpPr>
        <p:spPr>
          <a:xfrm>
            <a:off x="5349240" y="2788920"/>
            <a:ext cx="5943600" cy="274320"/>
          </a:xfrm>
          <a:prstGeom prst="rect">
            <a:avLst/>
          </a:prstGeom>
          <a:noFill/>
          <a:ln/>
        </p:spPr>
        <p:txBody>
          <a:bodyPr wrap="square" lIns="0" tIns="0" rIns="0" bIns="0" rtlCol="0" anchor="ctr"/>
          <a:lstStyle/>
          <a:p>
            <a:pPr indent="0" marL="0">
              <a:buNone/>
            </a:pPr>
            <a:r>
              <a:rPr lang="en-US" sz="1100" b="1" spc="100" kern="0" dirty="0">
                <a:solidFill>
                  <a:srgbClr val="6B7280"/>
                </a:solidFill>
                <a:latin typeface="Calibri" pitchFamily="34" charset="0"/>
                <a:ea typeface="Calibri" pitchFamily="34" charset="-122"/>
                <a:cs typeface="Calibri" pitchFamily="34" charset="-120"/>
              </a:rPr>
              <a:t>INSTITUTE</a:t>
            </a:r>
            <a:endParaRPr lang="en-US" sz="1100" dirty="0"/>
          </a:p>
        </p:txBody>
      </p:sp>
      <p:sp>
        <p:nvSpPr>
          <p:cNvPr id="17" name="Text 12"/>
          <p:cNvSpPr/>
          <p:nvPr/>
        </p:nvSpPr>
        <p:spPr>
          <a:xfrm>
            <a:off x="5349240" y="3044952"/>
            <a:ext cx="6126480" cy="36576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IILM University, Greater Noida, U.P.</a:t>
            </a:r>
            <a:endParaRPr lang="en-US" sz="1500" dirty="0"/>
          </a:p>
        </p:txBody>
      </p:sp>
      <p:sp>
        <p:nvSpPr>
          <p:cNvPr id="18" name="Shape 13"/>
          <p:cNvSpPr/>
          <p:nvPr/>
        </p:nvSpPr>
        <p:spPr>
          <a:xfrm>
            <a:off x="4572000" y="3648456"/>
            <a:ext cx="566928" cy="566928"/>
          </a:xfrm>
          <a:prstGeom prst="ellipse">
            <a:avLst/>
          </a:prstGeom>
          <a:solidFill>
            <a:srgbClr val="DCE3F7"/>
          </a:solidFill>
          <a:ln/>
        </p:spPr>
      </p:sp>
      <p:pic>
        <p:nvPicPr>
          <p:cNvPr id="19" name="Image 3" descr="/home/claude/icons/book_navy.png">    </p:cNvPr>
          <p:cNvPicPr>
            <a:picLocks noChangeAspect="1"/>
          </p:cNvPicPr>
          <p:nvPr/>
        </p:nvPicPr>
        <p:blipFill>
          <a:blip r:embed="rId4"/>
          <a:stretch>
            <a:fillRect/>
          </a:stretch>
        </p:blipFill>
        <p:spPr>
          <a:xfrm>
            <a:off x="4651370" y="3727826"/>
            <a:ext cx="408188" cy="408188"/>
          </a:xfrm>
          <a:prstGeom prst="rect">
            <a:avLst/>
          </a:prstGeom>
        </p:spPr>
      </p:pic>
      <p:sp>
        <p:nvSpPr>
          <p:cNvPr id="20" name="Text 14"/>
          <p:cNvSpPr/>
          <p:nvPr/>
        </p:nvSpPr>
        <p:spPr>
          <a:xfrm>
            <a:off x="5349240" y="3630168"/>
            <a:ext cx="5943600" cy="274320"/>
          </a:xfrm>
          <a:prstGeom prst="rect">
            <a:avLst/>
          </a:prstGeom>
          <a:noFill/>
          <a:ln/>
        </p:spPr>
        <p:txBody>
          <a:bodyPr wrap="square" lIns="0" tIns="0" rIns="0" bIns="0" rtlCol="0" anchor="ctr"/>
          <a:lstStyle/>
          <a:p>
            <a:pPr indent="0" marL="0">
              <a:buNone/>
            </a:pPr>
            <a:r>
              <a:rPr lang="en-US" sz="1100" b="1" spc="100" kern="0" dirty="0">
                <a:solidFill>
                  <a:srgbClr val="6B7280"/>
                </a:solidFill>
                <a:latin typeface="Calibri" pitchFamily="34" charset="0"/>
                <a:ea typeface="Calibri" pitchFamily="34" charset="-122"/>
                <a:cs typeface="Calibri" pitchFamily="34" charset="-120"/>
              </a:rPr>
              <a:t>PROGRAMME</a:t>
            </a:r>
            <a:endParaRPr lang="en-US" sz="1100" dirty="0"/>
          </a:p>
        </p:txBody>
      </p:sp>
      <p:sp>
        <p:nvSpPr>
          <p:cNvPr id="21" name="Text 15"/>
          <p:cNvSpPr/>
          <p:nvPr/>
        </p:nvSpPr>
        <p:spPr>
          <a:xfrm>
            <a:off x="5349240" y="3886200"/>
            <a:ext cx="6126480" cy="36576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B.Tech CSE, Section 3CSE8, Batch 2024-2028</a:t>
            </a:r>
            <a:endParaRPr lang="en-US" sz="1500" dirty="0"/>
          </a:p>
        </p:txBody>
      </p:sp>
      <p:sp>
        <p:nvSpPr>
          <p:cNvPr id="22" name="Shape 16"/>
          <p:cNvSpPr/>
          <p:nvPr/>
        </p:nvSpPr>
        <p:spPr>
          <a:xfrm>
            <a:off x="4572000" y="4489704"/>
            <a:ext cx="566928" cy="566928"/>
          </a:xfrm>
          <a:prstGeom prst="ellipse">
            <a:avLst/>
          </a:prstGeom>
          <a:solidFill>
            <a:srgbClr val="DCE3F7"/>
          </a:solidFill>
          <a:ln/>
        </p:spPr>
      </p:sp>
      <p:pic>
        <p:nvPicPr>
          <p:cNvPr id="23" name="Image 4" descr="/home/claude/icons/bullseye_navy.png">    </p:cNvPr>
          <p:cNvPicPr>
            <a:picLocks noChangeAspect="1"/>
          </p:cNvPicPr>
          <p:nvPr/>
        </p:nvPicPr>
        <p:blipFill>
          <a:blip r:embed="rId5"/>
          <a:stretch>
            <a:fillRect/>
          </a:stretch>
        </p:blipFill>
        <p:spPr>
          <a:xfrm>
            <a:off x="4651370" y="4569074"/>
            <a:ext cx="408188" cy="408188"/>
          </a:xfrm>
          <a:prstGeom prst="rect">
            <a:avLst/>
          </a:prstGeom>
        </p:spPr>
      </p:pic>
      <p:sp>
        <p:nvSpPr>
          <p:cNvPr id="24" name="Text 17"/>
          <p:cNvSpPr/>
          <p:nvPr/>
        </p:nvSpPr>
        <p:spPr>
          <a:xfrm>
            <a:off x="5349240" y="4471416"/>
            <a:ext cx="5943600" cy="274320"/>
          </a:xfrm>
          <a:prstGeom prst="rect">
            <a:avLst/>
          </a:prstGeom>
          <a:noFill/>
          <a:ln/>
        </p:spPr>
        <p:txBody>
          <a:bodyPr wrap="square" lIns="0" tIns="0" rIns="0" bIns="0" rtlCol="0" anchor="ctr"/>
          <a:lstStyle/>
          <a:p>
            <a:pPr indent="0" marL="0">
              <a:buNone/>
            </a:pPr>
            <a:r>
              <a:rPr lang="en-US" sz="1100" b="1" spc="100" kern="0" dirty="0">
                <a:solidFill>
                  <a:srgbClr val="6B7280"/>
                </a:solidFill>
                <a:latin typeface="Calibri" pitchFamily="34" charset="0"/>
                <a:ea typeface="Calibri" pitchFamily="34" charset="-122"/>
                <a:cs typeface="Calibri" pitchFamily="34" charset="-120"/>
              </a:rPr>
              <a:t>INTERNSHIP DOMAIN</a:t>
            </a:r>
            <a:endParaRPr lang="en-US" sz="1100" dirty="0"/>
          </a:p>
        </p:txBody>
      </p:sp>
      <p:sp>
        <p:nvSpPr>
          <p:cNvPr id="25" name="Text 18"/>
          <p:cNvSpPr/>
          <p:nvPr/>
        </p:nvSpPr>
        <p:spPr>
          <a:xfrm>
            <a:off x="5349240" y="4727448"/>
            <a:ext cx="6126480" cy="36576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Cisco Networking Academy — Networking</a:t>
            </a:r>
            <a:endParaRPr lang="en-US" sz="1500" dirty="0"/>
          </a:p>
        </p:txBody>
      </p:sp>
      <p:sp>
        <p:nvSpPr>
          <p:cNvPr id="26" name="Shape 19"/>
          <p:cNvSpPr/>
          <p:nvPr/>
        </p:nvSpPr>
        <p:spPr>
          <a:xfrm>
            <a:off x="4572000" y="5330952"/>
            <a:ext cx="566928" cy="566928"/>
          </a:xfrm>
          <a:prstGeom prst="ellipse">
            <a:avLst/>
          </a:prstGeom>
          <a:solidFill>
            <a:srgbClr val="DCE3F7"/>
          </a:solidFill>
          <a:ln/>
        </p:spPr>
      </p:sp>
      <p:pic>
        <p:nvPicPr>
          <p:cNvPr id="27" name="Image 5" descr="/home/claude/icons/calendar_navy.png">    </p:cNvPr>
          <p:cNvPicPr>
            <a:picLocks noChangeAspect="1"/>
          </p:cNvPicPr>
          <p:nvPr/>
        </p:nvPicPr>
        <p:blipFill>
          <a:blip r:embed="rId6"/>
          <a:stretch>
            <a:fillRect/>
          </a:stretch>
        </p:blipFill>
        <p:spPr>
          <a:xfrm>
            <a:off x="4651370" y="5410322"/>
            <a:ext cx="408188" cy="408188"/>
          </a:xfrm>
          <a:prstGeom prst="rect">
            <a:avLst/>
          </a:prstGeom>
        </p:spPr>
      </p:pic>
      <p:sp>
        <p:nvSpPr>
          <p:cNvPr id="28" name="Text 20"/>
          <p:cNvSpPr/>
          <p:nvPr/>
        </p:nvSpPr>
        <p:spPr>
          <a:xfrm>
            <a:off x="5349240" y="5312664"/>
            <a:ext cx="5943600" cy="274320"/>
          </a:xfrm>
          <a:prstGeom prst="rect">
            <a:avLst/>
          </a:prstGeom>
          <a:noFill/>
          <a:ln/>
        </p:spPr>
        <p:txBody>
          <a:bodyPr wrap="square" lIns="0" tIns="0" rIns="0" bIns="0" rtlCol="0" anchor="ctr"/>
          <a:lstStyle/>
          <a:p>
            <a:pPr indent="0" marL="0">
              <a:buNone/>
            </a:pPr>
            <a:r>
              <a:rPr lang="en-US" sz="1100" b="1" spc="100" kern="0" dirty="0">
                <a:solidFill>
                  <a:srgbClr val="6B7280"/>
                </a:solidFill>
                <a:latin typeface="Calibri" pitchFamily="34" charset="0"/>
                <a:ea typeface="Calibri" pitchFamily="34" charset="-122"/>
                <a:cs typeface="Calibri" pitchFamily="34" charset="-120"/>
              </a:rPr>
              <a:t>DURATION</a:t>
            </a:r>
            <a:endParaRPr lang="en-US" sz="1100" dirty="0"/>
          </a:p>
        </p:txBody>
      </p:sp>
      <p:sp>
        <p:nvSpPr>
          <p:cNvPr id="29" name="Text 21"/>
          <p:cNvSpPr/>
          <p:nvPr/>
        </p:nvSpPr>
        <p:spPr>
          <a:xfrm>
            <a:off x="5349240" y="5568696"/>
            <a:ext cx="6126480" cy="36576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16 Jun 2026 – 20 Jun 2026</a:t>
            </a:r>
            <a:endParaRPr lang="en-US" sz="1500" dirty="0"/>
          </a:p>
        </p:txBody>
      </p:sp>
      <p:sp>
        <p:nvSpPr>
          <p:cNvPr id="30" name="Text 22"/>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9AA3B5"/>
                </a:solidFill>
                <a:latin typeface="Calibri" pitchFamily="34" charset="0"/>
                <a:ea typeface="Calibri" pitchFamily="34" charset="-122"/>
                <a:cs typeface="Calibri" pitchFamily="34" charset="-120"/>
              </a:rPr>
              <a:t>Cisco Networking Academy Internship  •  Yadav Hitesh Shravan</a:t>
            </a:r>
            <a:endParaRPr lang="en-US" sz="900" dirty="0"/>
          </a:p>
        </p:txBody>
      </p:sp>
      <p:sp>
        <p:nvSpPr>
          <p:cNvPr id="31" name="Text 23"/>
          <p:cNvSpPr/>
          <p:nvPr/>
        </p:nvSpPr>
        <p:spPr>
          <a:xfrm>
            <a:off x="11430000" y="6537960"/>
            <a:ext cx="548640" cy="274320"/>
          </a:xfrm>
          <a:prstGeom prst="rect">
            <a:avLst/>
          </a:prstGeom>
          <a:noFill/>
          <a:ln/>
        </p:spPr>
        <p:txBody>
          <a:bodyPr wrap="square" lIns="0" tIns="0" rIns="0" bIns="0" rtlCol="0" anchor="ctr"/>
          <a:lstStyle/>
          <a:p>
            <a:pPr algn="r" indent="0" marL="0">
              <a:buNone/>
            </a:pPr>
            <a:r>
              <a:rPr lang="en-US" sz="900" dirty="0">
                <a:solidFill>
                  <a:srgbClr val="9AA3B5"/>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1FA"/>
        </a:solidFill>
      </p:bgPr>
    </p:bg>
    <p:spTree>
      <p:nvGrpSpPr>
        <p:cNvPr id="1" name=""/>
        <p:cNvGrpSpPr/>
        <p:nvPr/>
      </p:nvGrpSpPr>
      <p:grpSpPr>
        <a:xfrm>
          <a:off x="0" y="0"/>
          <a:ext cx="0" cy="0"/>
          <a:chOff x="0" y="0"/>
          <a:chExt cx="0" cy="0"/>
        </a:xfrm>
      </p:grpSpPr>
      <p:sp>
        <p:nvSpPr>
          <p:cNvPr id="2" name="Text 0"/>
          <p:cNvSpPr/>
          <p:nvPr/>
        </p:nvSpPr>
        <p:spPr>
          <a:xfrm>
            <a:off x="640080" y="502920"/>
            <a:ext cx="9144000" cy="320040"/>
          </a:xfrm>
          <a:prstGeom prst="rect">
            <a:avLst/>
          </a:prstGeom>
          <a:noFill/>
          <a:ln/>
        </p:spPr>
        <p:txBody>
          <a:bodyPr wrap="square" lIns="0" tIns="0" rIns="0" bIns="0" rtlCol="0" anchor="ctr"/>
          <a:lstStyle/>
          <a:p>
            <a:pPr indent="0" marL="0">
              <a:buNone/>
            </a:pPr>
            <a:r>
              <a:rPr lang="en-US" sz="1200" b="1" spc="200" kern="0" dirty="0">
                <a:solidFill>
                  <a:srgbClr val="F0A93A"/>
                </a:solidFill>
                <a:latin typeface="Calibri" pitchFamily="34" charset="0"/>
                <a:ea typeface="Calibri" pitchFamily="34" charset="-122"/>
                <a:cs typeface="Calibri" pitchFamily="34" charset="-120"/>
              </a:rPr>
              <a:t>ABOUT THE PROGRAM</a:t>
            </a:r>
            <a:endParaRPr lang="en-US" sz="1200" dirty="0"/>
          </a:p>
        </p:txBody>
      </p:sp>
      <p:sp>
        <p:nvSpPr>
          <p:cNvPr id="3" name="Text 1"/>
          <p:cNvSpPr/>
          <p:nvPr/>
        </p:nvSpPr>
        <p:spPr>
          <a:xfrm>
            <a:off x="640080" y="822960"/>
            <a:ext cx="10881360" cy="822960"/>
          </a:xfrm>
          <a:prstGeom prst="rect">
            <a:avLst/>
          </a:prstGeom>
          <a:noFill/>
          <a:ln/>
        </p:spPr>
        <p:txBody>
          <a:bodyPr wrap="square" lIns="0" tIns="0" rIns="0" bIns="0" rtlCol="0" anchor="ctr"/>
          <a:lstStyle/>
          <a:p>
            <a:pPr indent="0" marL="0">
              <a:buNone/>
            </a:pPr>
            <a:r>
              <a:rPr lang="en-US" sz="3200" b="1" dirty="0">
                <a:solidFill>
                  <a:srgbClr val="1B2456"/>
                </a:solidFill>
                <a:latin typeface="Cambria" pitchFamily="34" charset="0"/>
                <a:ea typeface="Cambria" pitchFamily="34" charset="-122"/>
                <a:cs typeface="Cambria" pitchFamily="34" charset="-120"/>
              </a:rPr>
              <a:t>Cisco Networking Academy at IILM</a:t>
            </a:r>
            <a:endParaRPr lang="en-US" sz="3200" dirty="0"/>
          </a:p>
        </p:txBody>
      </p:sp>
      <p:sp>
        <p:nvSpPr>
          <p:cNvPr id="4" name="Text 2"/>
          <p:cNvSpPr/>
          <p:nvPr/>
        </p:nvSpPr>
        <p:spPr>
          <a:xfrm>
            <a:off x="640080" y="1691640"/>
            <a:ext cx="10881360" cy="1188720"/>
          </a:xfrm>
          <a:prstGeom prst="rect">
            <a:avLst/>
          </a:prstGeom>
          <a:noFill/>
          <a:ln/>
        </p:spPr>
        <p:txBody>
          <a:bodyPr wrap="square" lIns="0" tIns="0" rIns="0" bIns="0" rtlCol="0" anchor="ctr"/>
          <a:lstStyle/>
          <a:p>
            <a:pPr indent="0" marL="0">
              <a:lnSpc>
                <a:spcPct val="125000"/>
              </a:lnSpc>
              <a:buNone/>
            </a:pPr>
            <a:r>
              <a:rPr lang="en-US" sz="1450" dirty="0">
                <a:solidFill>
                  <a:srgbClr val="1F2937"/>
                </a:solidFill>
                <a:latin typeface="Calibri" pitchFamily="34" charset="0"/>
                <a:ea typeface="Calibri" pitchFamily="34" charset="-122"/>
                <a:cs typeface="Calibri" pitchFamily="34" charset="-120"/>
              </a:rPr>
              <a:t>The Cisco Networking Academy is Cisco's global IT skills and career-building program, delivering structured courses in network simulation and core networking fundamentals. At IILM University, Greater Noida, the program is delivered by the School of Computer Science and Engineering under Instructor Mr Abhinav Raghav, giving engineering students hands-on exposure to enterprise networking concepts and tools using Cisco Packet Tracer.</a:t>
            </a:r>
            <a:endParaRPr lang="en-US" sz="1450" dirty="0"/>
          </a:p>
        </p:txBody>
      </p:sp>
      <p:sp>
        <p:nvSpPr>
          <p:cNvPr id="5" name="Shape 3"/>
          <p:cNvSpPr/>
          <p:nvPr/>
        </p:nvSpPr>
        <p:spPr>
          <a:xfrm>
            <a:off x="640080" y="3200400"/>
            <a:ext cx="3520440" cy="2651760"/>
          </a:xfrm>
          <a:prstGeom prst="roundRect">
            <a:avLst>
              <a:gd name="adj" fmla="val 2759"/>
            </a:avLst>
          </a:prstGeom>
          <a:solidFill>
            <a:srgbClr val="FFFFFF"/>
          </a:solidFill>
          <a:ln/>
          <a:effectLst>
            <a:outerShdw sx="100000" sy="100000" kx="0" ky="0" algn="bl" rotWithShape="0" blurRad="101600" dist="38100" dir="5400000">
              <a:srgbClr val="9AA3B5">
                <a:alpha val="25000"/>
              </a:srgbClr>
            </a:outerShdw>
          </a:effectLst>
        </p:spPr>
      </p:sp>
      <p:sp>
        <p:nvSpPr>
          <p:cNvPr id="6" name="Shape 4"/>
          <p:cNvSpPr/>
          <p:nvPr/>
        </p:nvSpPr>
        <p:spPr>
          <a:xfrm>
            <a:off x="960120" y="3520440"/>
            <a:ext cx="640080" cy="640080"/>
          </a:xfrm>
          <a:prstGeom prst="ellipse">
            <a:avLst/>
          </a:prstGeom>
          <a:solidFill>
            <a:srgbClr val="DCE3F7"/>
          </a:solidFill>
          <a:ln/>
        </p:spPr>
      </p:sp>
      <p:pic>
        <p:nvPicPr>
          <p:cNvPr id="7" name="Image 0" descr="/home/claude/icons/award_navy.png">    </p:cNvPr>
          <p:cNvPicPr>
            <a:picLocks noChangeAspect="1"/>
          </p:cNvPicPr>
          <p:nvPr/>
        </p:nvPicPr>
        <p:blipFill>
          <a:blip r:embed="rId1"/>
          <a:stretch>
            <a:fillRect/>
          </a:stretch>
        </p:blipFill>
        <p:spPr>
          <a:xfrm>
            <a:off x="1049731" y="3610051"/>
            <a:ext cx="460858" cy="460858"/>
          </a:xfrm>
          <a:prstGeom prst="rect">
            <a:avLst/>
          </a:prstGeom>
        </p:spPr>
      </p:pic>
      <p:sp>
        <p:nvSpPr>
          <p:cNvPr id="8" name="Text 5"/>
          <p:cNvSpPr/>
          <p:nvPr/>
        </p:nvSpPr>
        <p:spPr>
          <a:xfrm>
            <a:off x="914400" y="4343400"/>
            <a:ext cx="2971800" cy="548640"/>
          </a:xfrm>
          <a:prstGeom prst="rect">
            <a:avLst/>
          </a:prstGeom>
          <a:noFill/>
          <a:ln/>
        </p:spPr>
        <p:txBody>
          <a:bodyPr wrap="square" lIns="0" tIns="0" rIns="0" bIns="0" rtlCol="0" anchor="ctr"/>
          <a:lstStyle/>
          <a:p>
            <a:pPr indent="0" marL="0">
              <a:buNone/>
            </a:pPr>
            <a:r>
              <a:rPr lang="en-US" sz="1550" b="1" dirty="0">
                <a:solidFill>
                  <a:srgbClr val="1B2456"/>
                </a:solidFill>
                <a:latin typeface="Calibri" pitchFamily="34" charset="0"/>
                <a:ea typeface="Calibri" pitchFamily="34" charset="-122"/>
                <a:cs typeface="Calibri" pitchFamily="34" charset="-120"/>
              </a:rPr>
              <a:t>Cisco-Certified Curriculum</a:t>
            </a:r>
            <a:endParaRPr lang="en-US" sz="1550" dirty="0"/>
          </a:p>
        </p:txBody>
      </p:sp>
      <p:sp>
        <p:nvSpPr>
          <p:cNvPr id="9" name="Text 6"/>
          <p:cNvSpPr/>
          <p:nvPr/>
        </p:nvSpPr>
        <p:spPr>
          <a:xfrm>
            <a:off x="914400" y="4892040"/>
            <a:ext cx="2971800" cy="868680"/>
          </a:xfrm>
          <a:prstGeom prst="rect">
            <a:avLst/>
          </a:prstGeom>
          <a:noFill/>
          <a:ln/>
        </p:spPr>
        <p:txBody>
          <a:bodyPr wrap="square" lIns="0" tIns="0" rIns="0" bIns="0" rtlCol="0" anchor="ctr"/>
          <a:lstStyle/>
          <a:p>
            <a:pPr indent="0" marL="0">
              <a:lnSpc>
                <a:spcPct val="120000"/>
              </a:lnSpc>
              <a:buNone/>
            </a:pPr>
            <a:r>
              <a:rPr lang="en-US" sz="1200" dirty="0">
                <a:solidFill>
                  <a:srgbClr val="6B7280"/>
                </a:solidFill>
                <a:latin typeface="Calibri" pitchFamily="34" charset="0"/>
                <a:ea typeface="Calibri" pitchFamily="34" charset="-122"/>
                <a:cs typeface="Calibri" pitchFamily="34" charset="-120"/>
              </a:rPr>
              <a:t>Structured Cisco Networking Academy course content delivered end to end.</a:t>
            </a:r>
            <a:endParaRPr lang="en-US" sz="1200" dirty="0"/>
          </a:p>
        </p:txBody>
      </p:sp>
      <p:sp>
        <p:nvSpPr>
          <p:cNvPr id="10" name="Shape 7"/>
          <p:cNvSpPr/>
          <p:nvPr/>
        </p:nvSpPr>
        <p:spPr>
          <a:xfrm>
            <a:off x="4434840" y="3200400"/>
            <a:ext cx="3520440" cy="2651760"/>
          </a:xfrm>
          <a:prstGeom prst="roundRect">
            <a:avLst>
              <a:gd name="adj" fmla="val 2759"/>
            </a:avLst>
          </a:prstGeom>
          <a:solidFill>
            <a:srgbClr val="FFFFFF"/>
          </a:solidFill>
          <a:ln/>
          <a:effectLst>
            <a:outerShdw sx="100000" sy="100000" kx="0" ky="0" algn="bl" rotWithShape="0" blurRad="101600" dist="38100" dir="5400000">
              <a:srgbClr val="9AA3B5">
                <a:alpha val="25000"/>
              </a:srgbClr>
            </a:outerShdw>
          </a:effectLst>
        </p:spPr>
      </p:sp>
      <p:sp>
        <p:nvSpPr>
          <p:cNvPr id="11" name="Shape 8"/>
          <p:cNvSpPr/>
          <p:nvPr/>
        </p:nvSpPr>
        <p:spPr>
          <a:xfrm>
            <a:off x="4754880" y="3520440"/>
            <a:ext cx="640080" cy="640080"/>
          </a:xfrm>
          <a:prstGeom prst="ellipse">
            <a:avLst/>
          </a:prstGeom>
          <a:solidFill>
            <a:srgbClr val="DCE3F7"/>
          </a:solidFill>
          <a:ln/>
        </p:spPr>
      </p:sp>
      <p:pic>
        <p:nvPicPr>
          <p:cNvPr id="12" name="Image 1" descr="/home/claude/icons/university_navy.png">    </p:cNvPr>
          <p:cNvPicPr>
            <a:picLocks noChangeAspect="1"/>
          </p:cNvPicPr>
          <p:nvPr/>
        </p:nvPicPr>
        <p:blipFill>
          <a:blip r:embed="rId2"/>
          <a:stretch>
            <a:fillRect/>
          </a:stretch>
        </p:blipFill>
        <p:spPr>
          <a:xfrm>
            <a:off x="4844491" y="3610051"/>
            <a:ext cx="460858" cy="460858"/>
          </a:xfrm>
          <a:prstGeom prst="rect">
            <a:avLst/>
          </a:prstGeom>
        </p:spPr>
      </p:pic>
      <p:sp>
        <p:nvSpPr>
          <p:cNvPr id="13" name="Text 9"/>
          <p:cNvSpPr/>
          <p:nvPr/>
        </p:nvSpPr>
        <p:spPr>
          <a:xfrm>
            <a:off x="4709160" y="4343400"/>
            <a:ext cx="2971800" cy="548640"/>
          </a:xfrm>
          <a:prstGeom prst="rect">
            <a:avLst/>
          </a:prstGeom>
          <a:noFill/>
          <a:ln/>
        </p:spPr>
        <p:txBody>
          <a:bodyPr wrap="square" lIns="0" tIns="0" rIns="0" bIns="0" rtlCol="0" anchor="ctr"/>
          <a:lstStyle/>
          <a:p>
            <a:pPr indent="0" marL="0">
              <a:buNone/>
            </a:pPr>
            <a:r>
              <a:rPr lang="en-US" sz="1550" b="1" dirty="0">
                <a:solidFill>
                  <a:srgbClr val="1B2456"/>
                </a:solidFill>
                <a:latin typeface="Calibri" pitchFamily="34" charset="0"/>
                <a:ea typeface="Calibri" pitchFamily="34" charset="-122"/>
                <a:cs typeface="Calibri" pitchFamily="34" charset="-120"/>
              </a:rPr>
              <a:t>IILM University Delivery</a:t>
            </a:r>
            <a:endParaRPr lang="en-US" sz="1550" dirty="0"/>
          </a:p>
        </p:txBody>
      </p:sp>
      <p:sp>
        <p:nvSpPr>
          <p:cNvPr id="14" name="Text 10"/>
          <p:cNvSpPr/>
          <p:nvPr/>
        </p:nvSpPr>
        <p:spPr>
          <a:xfrm>
            <a:off x="4709160" y="4892040"/>
            <a:ext cx="2971800" cy="868680"/>
          </a:xfrm>
          <a:prstGeom prst="rect">
            <a:avLst/>
          </a:prstGeom>
          <a:noFill/>
          <a:ln/>
        </p:spPr>
        <p:txBody>
          <a:bodyPr wrap="square" lIns="0" tIns="0" rIns="0" bIns="0" rtlCol="0" anchor="ctr"/>
          <a:lstStyle/>
          <a:p>
            <a:pPr indent="0" marL="0">
              <a:lnSpc>
                <a:spcPct val="120000"/>
              </a:lnSpc>
              <a:buNone/>
            </a:pPr>
            <a:r>
              <a:rPr lang="en-US" sz="1200" dirty="0">
                <a:solidFill>
                  <a:srgbClr val="6B7280"/>
                </a:solidFill>
                <a:latin typeface="Calibri" pitchFamily="34" charset="0"/>
                <a:ea typeface="Calibri" pitchFamily="34" charset="-122"/>
                <a:cs typeface="Calibri" pitchFamily="34" charset="-120"/>
              </a:rPr>
              <a:t>Delivered by the School of Computer Science and Engineering, IILM University.</a:t>
            </a:r>
            <a:endParaRPr lang="en-US" sz="1200" dirty="0"/>
          </a:p>
        </p:txBody>
      </p:sp>
      <p:sp>
        <p:nvSpPr>
          <p:cNvPr id="15" name="Shape 11"/>
          <p:cNvSpPr/>
          <p:nvPr/>
        </p:nvSpPr>
        <p:spPr>
          <a:xfrm>
            <a:off x="8229600" y="3200400"/>
            <a:ext cx="3520440" cy="2651760"/>
          </a:xfrm>
          <a:prstGeom prst="roundRect">
            <a:avLst>
              <a:gd name="adj" fmla="val 2759"/>
            </a:avLst>
          </a:prstGeom>
          <a:solidFill>
            <a:srgbClr val="FFFFFF"/>
          </a:solidFill>
          <a:ln/>
          <a:effectLst>
            <a:outerShdw sx="100000" sy="100000" kx="0" ky="0" algn="bl" rotWithShape="0" blurRad="101600" dist="38100" dir="5400000">
              <a:srgbClr val="9AA3B5">
                <a:alpha val="25000"/>
              </a:srgbClr>
            </a:outerShdw>
          </a:effectLst>
        </p:spPr>
      </p:sp>
      <p:sp>
        <p:nvSpPr>
          <p:cNvPr id="16" name="Shape 12"/>
          <p:cNvSpPr/>
          <p:nvPr/>
        </p:nvSpPr>
        <p:spPr>
          <a:xfrm>
            <a:off x="8549640" y="3520440"/>
            <a:ext cx="640080" cy="640080"/>
          </a:xfrm>
          <a:prstGeom prst="ellipse">
            <a:avLst/>
          </a:prstGeom>
          <a:solidFill>
            <a:srgbClr val="DCE3F7"/>
          </a:solidFill>
          <a:ln/>
        </p:spPr>
      </p:sp>
      <p:pic>
        <p:nvPicPr>
          <p:cNvPr id="17" name="Image 2" descr="/home/claude/icons/chalkboard_navy.png">    </p:cNvPr>
          <p:cNvPicPr>
            <a:picLocks noChangeAspect="1"/>
          </p:cNvPicPr>
          <p:nvPr/>
        </p:nvPicPr>
        <p:blipFill>
          <a:blip r:embed="rId3"/>
          <a:stretch>
            <a:fillRect/>
          </a:stretch>
        </p:blipFill>
        <p:spPr>
          <a:xfrm>
            <a:off x="8639251" y="3610051"/>
            <a:ext cx="460858" cy="460858"/>
          </a:xfrm>
          <a:prstGeom prst="rect">
            <a:avLst/>
          </a:prstGeom>
        </p:spPr>
      </p:pic>
      <p:sp>
        <p:nvSpPr>
          <p:cNvPr id="18" name="Text 13"/>
          <p:cNvSpPr/>
          <p:nvPr/>
        </p:nvSpPr>
        <p:spPr>
          <a:xfrm>
            <a:off x="8503920" y="4343400"/>
            <a:ext cx="2971800" cy="548640"/>
          </a:xfrm>
          <a:prstGeom prst="rect">
            <a:avLst/>
          </a:prstGeom>
          <a:noFill/>
          <a:ln/>
        </p:spPr>
        <p:txBody>
          <a:bodyPr wrap="square" lIns="0" tIns="0" rIns="0" bIns="0" rtlCol="0" anchor="ctr"/>
          <a:lstStyle/>
          <a:p>
            <a:pPr indent="0" marL="0">
              <a:buNone/>
            </a:pPr>
            <a:r>
              <a:rPr lang="en-US" sz="1550" b="1" dirty="0">
                <a:solidFill>
                  <a:srgbClr val="1B2456"/>
                </a:solidFill>
                <a:latin typeface="Calibri" pitchFamily="34" charset="0"/>
                <a:ea typeface="Calibri" pitchFamily="34" charset="-122"/>
                <a:cs typeface="Calibri" pitchFamily="34" charset="-120"/>
              </a:rPr>
              <a:t>Instructor-Led</a:t>
            </a:r>
            <a:endParaRPr lang="en-US" sz="1550" dirty="0"/>
          </a:p>
        </p:txBody>
      </p:sp>
      <p:sp>
        <p:nvSpPr>
          <p:cNvPr id="19" name="Text 14"/>
          <p:cNvSpPr/>
          <p:nvPr/>
        </p:nvSpPr>
        <p:spPr>
          <a:xfrm>
            <a:off x="8503920" y="4892040"/>
            <a:ext cx="2971800" cy="868680"/>
          </a:xfrm>
          <a:prstGeom prst="rect">
            <a:avLst/>
          </a:prstGeom>
          <a:noFill/>
          <a:ln/>
        </p:spPr>
        <p:txBody>
          <a:bodyPr wrap="square" lIns="0" tIns="0" rIns="0" bIns="0" rtlCol="0" anchor="ctr"/>
          <a:lstStyle/>
          <a:p>
            <a:pPr indent="0" marL="0">
              <a:lnSpc>
                <a:spcPct val="120000"/>
              </a:lnSpc>
              <a:buNone/>
            </a:pPr>
            <a:r>
              <a:rPr lang="en-US" sz="1200" dirty="0">
                <a:solidFill>
                  <a:srgbClr val="6B7280"/>
                </a:solidFill>
                <a:latin typeface="Calibri" pitchFamily="34" charset="0"/>
                <a:ea typeface="Calibri" pitchFamily="34" charset="-122"/>
                <a:cs typeface="Calibri" pitchFamily="34" charset="-120"/>
              </a:rPr>
              <a:t>Guided throughout by Mr Abhinav Raghav, Instructor, IILM University.</a:t>
            </a:r>
            <a:endParaRPr lang="en-US" sz="1200" dirty="0"/>
          </a:p>
        </p:txBody>
      </p:sp>
      <p:sp>
        <p:nvSpPr>
          <p:cNvPr id="20" name="Text 15"/>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9AA3B5"/>
                </a:solidFill>
                <a:latin typeface="Calibri" pitchFamily="34" charset="0"/>
                <a:ea typeface="Calibri" pitchFamily="34" charset="-122"/>
                <a:cs typeface="Calibri" pitchFamily="34" charset="-120"/>
              </a:rPr>
              <a:t>Cisco Networking Academy Internship  •  Yadav Hitesh Shravan</a:t>
            </a:r>
            <a:endParaRPr lang="en-US" sz="900" dirty="0"/>
          </a:p>
        </p:txBody>
      </p:sp>
      <p:sp>
        <p:nvSpPr>
          <p:cNvPr id="21" name="Text 16"/>
          <p:cNvSpPr/>
          <p:nvPr/>
        </p:nvSpPr>
        <p:spPr>
          <a:xfrm>
            <a:off x="11430000" y="6537960"/>
            <a:ext cx="548640" cy="274320"/>
          </a:xfrm>
          <a:prstGeom prst="rect">
            <a:avLst/>
          </a:prstGeom>
          <a:noFill/>
          <a:ln/>
        </p:spPr>
        <p:txBody>
          <a:bodyPr wrap="square" lIns="0" tIns="0" rIns="0" bIns="0" rtlCol="0" anchor="ctr"/>
          <a:lstStyle/>
          <a:p>
            <a:pPr algn="r" indent="0" marL="0">
              <a:buNone/>
            </a:pPr>
            <a:r>
              <a:rPr lang="en-US" sz="900" dirty="0">
                <a:solidFill>
                  <a:srgbClr val="9AA3B5"/>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320040"/>
          </a:xfrm>
          <a:prstGeom prst="rect">
            <a:avLst/>
          </a:prstGeom>
          <a:noFill/>
          <a:ln/>
        </p:spPr>
        <p:txBody>
          <a:bodyPr wrap="square" lIns="0" tIns="0" rIns="0" bIns="0" rtlCol="0" anchor="ctr"/>
          <a:lstStyle/>
          <a:p>
            <a:pPr indent="0" marL="0">
              <a:buNone/>
            </a:pPr>
            <a:r>
              <a:rPr lang="en-US" sz="1200" b="1" spc="200" kern="0" dirty="0">
                <a:solidFill>
                  <a:srgbClr val="F0A93A"/>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640080" y="822960"/>
            <a:ext cx="10881360" cy="822960"/>
          </a:xfrm>
          <a:prstGeom prst="rect">
            <a:avLst/>
          </a:prstGeom>
          <a:noFill/>
          <a:ln/>
        </p:spPr>
        <p:txBody>
          <a:bodyPr wrap="square" lIns="0" tIns="0" rIns="0" bIns="0" rtlCol="0" anchor="ctr"/>
          <a:lstStyle/>
          <a:p>
            <a:pPr indent="0" marL="0">
              <a:buNone/>
            </a:pPr>
            <a:r>
              <a:rPr lang="en-US" sz="3200" b="1" dirty="0">
                <a:solidFill>
                  <a:srgbClr val="1B2456"/>
                </a:solidFill>
                <a:latin typeface="Cambria" pitchFamily="34" charset="0"/>
                <a:ea typeface="Cambria" pitchFamily="34" charset="-122"/>
                <a:cs typeface="Cambria" pitchFamily="34" charset="-120"/>
              </a:rPr>
              <a:t>Bridging Theory and Practical Networking</a:t>
            </a:r>
            <a:endParaRPr lang="en-US" sz="3200" dirty="0"/>
          </a:p>
        </p:txBody>
      </p:sp>
      <p:sp>
        <p:nvSpPr>
          <p:cNvPr id="4" name="Shape 2"/>
          <p:cNvSpPr/>
          <p:nvPr/>
        </p:nvSpPr>
        <p:spPr>
          <a:xfrm>
            <a:off x="640080" y="1783080"/>
            <a:ext cx="10881360" cy="1417320"/>
          </a:xfrm>
          <a:prstGeom prst="roundRect">
            <a:avLst>
              <a:gd name="adj" fmla="val 3871"/>
            </a:avLst>
          </a:prstGeom>
          <a:solidFill>
            <a:srgbClr val="EEF1FA"/>
          </a:solidFill>
          <a:ln/>
        </p:spPr>
      </p:sp>
      <p:sp>
        <p:nvSpPr>
          <p:cNvPr id="5" name="Text 3"/>
          <p:cNvSpPr/>
          <p:nvPr/>
        </p:nvSpPr>
        <p:spPr>
          <a:xfrm>
            <a:off x="914400" y="1920240"/>
            <a:ext cx="10332720" cy="1188720"/>
          </a:xfrm>
          <a:prstGeom prst="rect">
            <a:avLst/>
          </a:prstGeom>
          <a:noFill/>
          <a:ln/>
        </p:spPr>
        <p:txBody>
          <a:bodyPr wrap="square" lIns="0" tIns="0" rIns="0" bIns="0" rtlCol="0" anchor="ctr"/>
          <a:lstStyle/>
          <a:p>
            <a:pPr indent="0" marL="0">
              <a:lnSpc>
                <a:spcPct val="125000"/>
              </a:lnSpc>
              <a:buNone/>
            </a:pPr>
            <a:r>
              <a:rPr lang="en-US" sz="1400" dirty="0">
                <a:solidFill>
                  <a:srgbClr val="1F2937"/>
                </a:solidFill>
                <a:latin typeface="Calibri" pitchFamily="34" charset="0"/>
                <a:ea typeface="Calibri" pitchFamily="34" charset="-122"/>
                <a:cs typeface="Calibri" pitchFamily="34" charset="-120"/>
              </a:rPr>
              <a:t>Many engineering students learn networking concepts such as IP addressing, VLANs, routing, and switching only at a theoretical level, with limited hands-on practice designing, configuring, and troubleshooting an actual network. This internship addressed that gap through structured, simulation-based training in Cisco Packet Tracer, followed by an applied branch-office network design and fault-diagnosis project.</a:t>
            </a:r>
            <a:endParaRPr lang="en-US" sz="1400" dirty="0"/>
          </a:p>
        </p:txBody>
      </p:sp>
      <p:sp>
        <p:nvSpPr>
          <p:cNvPr id="6" name="Text 4"/>
          <p:cNvSpPr/>
          <p:nvPr/>
        </p:nvSpPr>
        <p:spPr>
          <a:xfrm>
            <a:off x="640080" y="3520440"/>
            <a:ext cx="10058400" cy="365760"/>
          </a:xfrm>
          <a:prstGeom prst="rect">
            <a:avLst/>
          </a:prstGeom>
          <a:noFill/>
          <a:ln/>
        </p:spPr>
        <p:txBody>
          <a:bodyPr wrap="square" lIns="0" tIns="0" rIns="0" bIns="0" rtlCol="0" anchor="ctr"/>
          <a:lstStyle/>
          <a:p>
            <a:pPr indent="0" marL="0">
              <a:buNone/>
            </a:pPr>
            <a:r>
              <a:rPr lang="en-US" sz="1400" b="1" dirty="0">
                <a:solidFill>
                  <a:srgbClr val="1B2456"/>
                </a:solidFill>
                <a:latin typeface="Calibri" pitchFamily="34" charset="0"/>
                <a:ea typeface="Calibri" pitchFamily="34" charset="-122"/>
                <a:cs typeface="Calibri" pitchFamily="34" charset="-120"/>
              </a:rPr>
              <a:t>This internship addressed that gap — practically applying core networking concepts:</a:t>
            </a:r>
            <a:endParaRPr lang="en-US" sz="1400" dirty="0"/>
          </a:p>
        </p:txBody>
      </p:sp>
      <p:sp>
        <p:nvSpPr>
          <p:cNvPr id="7" name="Shape 5"/>
          <p:cNvSpPr/>
          <p:nvPr/>
        </p:nvSpPr>
        <p:spPr>
          <a:xfrm>
            <a:off x="640080" y="4114800"/>
            <a:ext cx="2514600" cy="1051560"/>
          </a:xfrm>
          <a:prstGeom prst="roundRect">
            <a:avLst>
              <a:gd name="adj" fmla="val 6957"/>
            </a:avLst>
          </a:prstGeom>
          <a:solidFill>
            <a:srgbClr val="1E2761"/>
          </a:solidFill>
          <a:ln/>
        </p:spPr>
      </p:sp>
      <p:sp>
        <p:nvSpPr>
          <p:cNvPr id="8" name="Text 6"/>
          <p:cNvSpPr/>
          <p:nvPr/>
        </p:nvSpPr>
        <p:spPr>
          <a:xfrm>
            <a:off x="640080" y="4114800"/>
            <a:ext cx="2514600" cy="10515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Learn Basics</a:t>
            </a:r>
            <a:endParaRPr lang="en-US" sz="1500" dirty="0"/>
          </a:p>
        </p:txBody>
      </p:sp>
      <p:sp>
        <p:nvSpPr>
          <p:cNvPr id="9" name="Text 7"/>
          <p:cNvSpPr/>
          <p:nvPr/>
        </p:nvSpPr>
        <p:spPr>
          <a:xfrm>
            <a:off x="3172968" y="4114800"/>
            <a:ext cx="283464" cy="1051560"/>
          </a:xfrm>
          <a:prstGeom prst="rect">
            <a:avLst/>
          </a:prstGeom>
          <a:noFill/>
          <a:ln/>
        </p:spPr>
        <p:txBody>
          <a:bodyPr wrap="square" lIns="0" tIns="0" rIns="0" bIns="0" rtlCol="0" anchor="ctr"/>
          <a:lstStyle/>
          <a:p>
            <a:pPr algn="ctr" indent="0" marL="0">
              <a:buNone/>
            </a:pPr>
            <a:r>
              <a:rPr lang="en-US" sz="2200" b="1" dirty="0">
                <a:solidFill>
                  <a:srgbClr val="F0A93A"/>
                </a:solidFill>
              </a:rPr>
              <a:t>→</a:t>
            </a:r>
            <a:endParaRPr lang="en-US" sz="2200" dirty="0"/>
          </a:p>
        </p:txBody>
      </p:sp>
      <p:sp>
        <p:nvSpPr>
          <p:cNvPr id="10" name="Shape 8"/>
          <p:cNvSpPr/>
          <p:nvPr/>
        </p:nvSpPr>
        <p:spPr>
          <a:xfrm>
            <a:off x="3474720" y="4114800"/>
            <a:ext cx="2514600" cy="1051560"/>
          </a:xfrm>
          <a:prstGeom prst="roundRect">
            <a:avLst>
              <a:gd name="adj" fmla="val 6957"/>
            </a:avLst>
          </a:prstGeom>
          <a:solidFill>
            <a:srgbClr val="1E2761"/>
          </a:solidFill>
          <a:ln/>
        </p:spPr>
      </p:sp>
      <p:sp>
        <p:nvSpPr>
          <p:cNvPr id="11" name="Text 9"/>
          <p:cNvSpPr/>
          <p:nvPr/>
        </p:nvSpPr>
        <p:spPr>
          <a:xfrm>
            <a:off x="3474720" y="4114800"/>
            <a:ext cx="2514600" cy="10515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Explore Topologies</a:t>
            </a:r>
            <a:endParaRPr lang="en-US" sz="1500" dirty="0"/>
          </a:p>
        </p:txBody>
      </p:sp>
      <p:sp>
        <p:nvSpPr>
          <p:cNvPr id="12" name="Text 10"/>
          <p:cNvSpPr/>
          <p:nvPr/>
        </p:nvSpPr>
        <p:spPr>
          <a:xfrm>
            <a:off x="6007608" y="4114800"/>
            <a:ext cx="283464" cy="1051560"/>
          </a:xfrm>
          <a:prstGeom prst="rect">
            <a:avLst/>
          </a:prstGeom>
          <a:noFill/>
          <a:ln/>
        </p:spPr>
        <p:txBody>
          <a:bodyPr wrap="square" lIns="0" tIns="0" rIns="0" bIns="0" rtlCol="0" anchor="ctr"/>
          <a:lstStyle/>
          <a:p>
            <a:pPr algn="ctr" indent="0" marL="0">
              <a:buNone/>
            </a:pPr>
            <a:r>
              <a:rPr lang="en-US" sz="2200" b="1" dirty="0">
                <a:solidFill>
                  <a:srgbClr val="F0A93A"/>
                </a:solidFill>
              </a:rPr>
              <a:t>→</a:t>
            </a:r>
            <a:endParaRPr lang="en-US" sz="2200" dirty="0"/>
          </a:p>
        </p:txBody>
      </p:sp>
      <p:sp>
        <p:nvSpPr>
          <p:cNvPr id="13" name="Shape 11"/>
          <p:cNvSpPr/>
          <p:nvPr/>
        </p:nvSpPr>
        <p:spPr>
          <a:xfrm>
            <a:off x="6309360" y="4114800"/>
            <a:ext cx="2514600" cy="1051560"/>
          </a:xfrm>
          <a:prstGeom prst="roundRect">
            <a:avLst>
              <a:gd name="adj" fmla="val 6957"/>
            </a:avLst>
          </a:prstGeom>
          <a:solidFill>
            <a:srgbClr val="1E2761"/>
          </a:solidFill>
          <a:ln/>
        </p:spPr>
      </p:sp>
      <p:sp>
        <p:nvSpPr>
          <p:cNvPr id="14" name="Text 12"/>
          <p:cNvSpPr/>
          <p:nvPr/>
        </p:nvSpPr>
        <p:spPr>
          <a:xfrm>
            <a:off x="6309360" y="4114800"/>
            <a:ext cx="2514600" cy="10515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Master Essentials</a:t>
            </a:r>
            <a:endParaRPr lang="en-US" sz="1500" dirty="0"/>
          </a:p>
        </p:txBody>
      </p:sp>
      <p:sp>
        <p:nvSpPr>
          <p:cNvPr id="15" name="Text 13"/>
          <p:cNvSpPr/>
          <p:nvPr/>
        </p:nvSpPr>
        <p:spPr>
          <a:xfrm>
            <a:off x="8842248" y="4114800"/>
            <a:ext cx="283464" cy="1051560"/>
          </a:xfrm>
          <a:prstGeom prst="rect">
            <a:avLst/>
          </a:prstGeom>
          <a:noFill/>
          <a:ln/>
        </p:spPr>
        <p:txBody>
          <a:bodyPr wrap="square" lIns="0" tIns="0" rIns="0" bIns="0" rtlCol="0" anchor="ctr"/>
          <a:lstStyle/>
          <a:p>
            <a:pPr algn="ctr" indent="0" marL="0">
              <a:buNone/>
            </a:pPr>
            <a:r>
              <a:rPr lang="en-US" sz="2200" b="1" dirty="0">
                <a:solidFill>
                  <a:srgbClr val="F0A93A"/>
                </a:solidFill>
              </a:rPr>
              <a:t>→</a:t>
            </a:r>
            <a:endParaRPr lang="en-US" sz="2200" dirty="0"/>
          </a:p>
        </p:txBody>
      </p:sp>
      <p:sp>
        <p:nvSpPr>
          <p:cNvPr id="16" name="Shape 14"/>
          <p:cNvSpPr/>
          <p:nvPr/>
        </p:nvSpPr>
        <p:spPr>
          <a:xfrm>
            <a:off x="9144000" y="4114800"/>
            <a:ext cx="2514600" cy="1051560"/>
          </a:xfrm>
          <a:prstGeom prst="roundRect">
            <a:avLst>
              <a:gd name="adj" fmla="val 6957"/>
            </a:avLst>
          </a:prstGeom>
          <a:solidFill>
            <a:srgbClr val="1E2761"/>
          </a:solidFill>
          <a:ln/>
        </p:spPr>
      </p:sp>
      <p:sp>
        <p:nvSpPr>
          <p:cNvPr id="17" name="Text 15"/>
          <p:cNvSpPr/>
          <p:nvPr/>
        </p:nvSpPr>
        <p:spPr>
          <a:xfrm>
            <a:off x="9144000" y="4114800"/>
            <a:ext cx="2514600" cy="10515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Apply to Project</a:t>
            </a:r>
            <a:endParaRPr lang="en-US" sz="1500" dirty="0"/>
          </a:p>
        </p:txBody>
      </p:sp>
      <p:sp>
        <p:nvSpPr>
          <p:cNvPr id="18" name="Text 16"/>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9AA3B5"/>
                </a:solidFill>
                <a:latin typeface="Calibri" pitchFamily="34" charset="0"/>
                <a:ea typeface="Calibri" pitchFamily="34" charset="-122"/>
                <a:cs typeface="Calibri" pitchFamily="34" charset="-120"/>
              </a:rPr>
              <a:t>Cisco Networking Academy Internship  •  Yadav Hitesh Shravan</a:t>
            </a:r>
            <a:endParaRPr lang="en-US" sz="900" dirty="0"/>
          </a:p>
        </p:txBody>
      </p:sp>
      <p:sp>
        <p:nvSpPr>
          <p:cNvPr id="19" name="Text 17"/>
          <p:cNvSpPr/>
          <p:nvPr/>
        </p:nvSpPr>
        <p:spPr>
          <a:xfrm>
            <a:off x="11430000" y="6537960"/>
            <a:ext cx="548640" cy="274320"/>
          </a:xfrm>
          <a:prstGeom prst="rect">
            <a:avLst/>
          </a:prstGeom>
          <a:noFill/>
          <a:ln/>
        </p:spPr>
        <p:txBody>
          <a:bodyPr wrap="square" lIns="0" tIns="0" rIns="0" bIns="0" rtlCol="0" anchor="ctr"/>
          <a:lstStyle/>
          <a:p>
            <a:pPr algn="r" indent="0" marL="0">
              <a:buNone/>
            </a:pPr>
            <a:r>
              <a:rPr lang="en-US" sz="900" dirty="0">
                <a:solidFill>
                  <a:srgbClr val="9AA3B5"/>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A"/>
        </a:solidFill>
      </p:bgPr>
    </p:bg>
    <p:spTree>
      <p:nvGrpSpPr>
        <p:cNvPr id="1" name=""/>
        <p:cNvGrpSpPr/>
        <p:nvPr/>
      </p:nvGrpSpPr>
      <p:grpSpPr>
        <a:xfrm>
          <a:off x="0" y="0"/>
          <a:ext cx="0" cy="0"/>
          <a:chOff x="0" y="0"/>
          <a:chExt cx="0" cy="0"/>
        </a:xfrm>
      </p:grpSpPr>
      <p:sp>
        <p:nvSpPr>
          <p:cNvPr id="2" name="Text 0"/>
          <p:cNvSpPr/>
          <p:nvPr/>
        </p:nvSpPr>
        <p:spPr>
          <a:xfrm>
            <a:off x="640080" y="502920"/>
            <a:ext cx="9144000" cy="320040"/>
          </a:xfrm>
          <a:prstGeom prst="rect">
            <a:avLst/>
          </a:prstGeom>
          <a:noFill/>
          <a:ln/>
        </p:spPr>
        <p:txBody>
          <a:bodyPr wrap="square" lIns="0" tIns="0" rIns="0" bIns="0" rtlCol="0" anchor="ctr"/>
          <a:lstStyle/>
          <a:p>
            <a:pPr indent="0" marL="0">
              <a:buNone/>
            </a:pPr>
            <a:r>
              <a:rPr lang="en-US" sz="1200" b="1" spc="200" kern="0" dirty="0">
                <a:solidFill>
                  <a:srgbClr val="F0A93A"/>
                </a:solidFill>
                <a:latin typeface="Calibri" pitchFamily="34" charset="0"/>
                <a:ea typeface="Calibri" pitchFamily="34" charset="-122"/>
                <a:cs typeface="Calibri" pitchFamily="34" charset="-120"/>
              </a:rPr>
              <a:t>PROJECT OBJECTIVES</a:t>
            </a:r>
            <a:endParaRPr lang="en-US" sz="1200" dirty="0"/>
          </a:p>
        </p:txBody>
      </p:sp>
      <p:sp>
        <p:nvSpPr>
          <p:cNvPr id="3" name="Text 1"/>
          <p:cNvSpPr/>
          <p:nvPr/>
        </p:nvSpPr>
        <p:spPr>
          <a:xfrm>
            <a:off x="640080" y="822960"/>
            <a:ext cx="10881360" cy="822960"/>
          </a:xfrm>
          <a:prstGeom prst="rect">
            <a:avLst/>
          </a:prstGeom>
          <a:noFill/>
          <a:ln/>
        </p:spPr>
        <p:txBody>
          <a:bodyPr wrap="square" lIns="0" tIns="0" rIns="0" bIns="0" rtlCol="0" anchor="ctr"/>
          <a:lstStyle/>
          <a:p>
            <a:pPr indent="0" marL="0">
              <a:buNone/>
            </a:pPr>
            <a:r>
              <a:rPr lang="en-US" sz="3200" b="1" dirty="0">
                <a:solidFill>
                  <a:srgbClr val="1B2456"/>
                </a:solidFill>
                <a:latin typeface="Cambria" pitchFamily="34" charset="0"/>
                <a:ea typeface="Cambria" pitchFamily="34" charset="-122"/>
                <a:cs typeface="Cambria" pitchFamily="34" charset="-120"/>
              </a:rPr>
              <a:t>What the Internship Set Out to Achieve</a:t>
            </a:r>
            <a:endParaRPr lang="en-US" sz="3200" dirty="0"/>
          </a:p>
        </p:txBody>
      </p:sp>
      <p:sp>
        <p:nvSpPr>
          <p:cNvPr id="4" name="Shape 2"/>
          <p:cNvSpPr/>
          <p:nvPr/>
        </p:nvSpPr>
        <p:spPr>
          <a:xfrm>
            <a:off x="640080" y="1783080"/>
            <a:ext cx="3520440" cy="1965960"/>
          </a:xfrm>
          <a:prstGeom prst="roundRect">
            <a:avLst>
              <a:gd name="adj" fmla="val 3721"/>
            </a:avLst>
          </a:prstGeom>
          <a:solidFill>
            <a:srgbClr val="FFFFFF"/>
          </a:solidFill>
          <a:ln/>
          <a:effectLst>
            <a:outerShdw sx="100000" sy="100000" kx="0" ky="0" algn="bl" rotWithShape="0" blurRad="76200" dist="25400" dir="5400000">
              <a:srgbClr val="9AA3B5">
                <a:alpha val="20000"/>
              </a:srgbClr>
            </a:outerShdw>
          </a:effectLst>
        </p:spPr>
      </p:sp>
      <p:sp>
        <p:nvSpPr>
          <p:cNvPr id="5" name="Shape 3"/>
          <p:cNvSpPr/>
          <p:nvPr/>
        </p:nvSpPr>
        <p:spPr>
          <a:xfrm>
            <a:off x="914400" y="2039112"/>
            <a:ext cx="548640" cy="548640"/>
          </a:xfrm>
          <a:prstGeom prst="ellipse">
            <a:avLst/>
          </a:prstGeom>
          <a:solidFill>
            <a:srgbClr val="DCE3F7"/>
          </a:solidFill>
          <a:ln/>
        </p:spPr>
      </p:sp>
      <p:pic>
        <p:nvPicPr>
          <p:cNvPr id="6" name="Image 0" descr="/home/claude/icons/sitemap_navy.png">    </p:cNvPr>
          <p:cNvPicPr>
            <a:picLocks noChangeAspect="1"/>
          </p:cNvPicPr>
          <p:nvPr/>
        </p:nvPicPr>
        <p:blipFill>
          <a:blip r:embed="rId1"/>
          <a:stretch>
            <a:fillRect/>
          </a:stretch>
        </p:blipFill>
        <p:spPr>
          <a:xfrm>
            <a:off x="991210" y="2115922"/>
            <a:ext cx="395021" cy="395021"/>
          </a:xfrm>
          <a:prstGeom prst="rect">
            <a:avLst/>
          </a:prstGeom>
        </p:spPr>
      </p:pic>
      <p:sp>
        <p:nvSpPr>
          <p:cNvPr id="7" name="Text 4"/>
          <p:cNvSpPr/>
          <p:nvPr/>
        </p:nvSpPr>
        <p:spPr>
          <a:xfrm>
            <a:off x="868680" y="2697480"/>
            <a:ext cx="3063240" cy="411480"/>
          </a:xfrm>
          <a:prstGeom prst="rect">
            <a:avLst/>
          </a:prstGeom>
          <a:noFill/>
          <a:ln/>
        </p:spPr>
        <p:txBody>
          <a:bodyPr wrap="square" lIns="0" tIns="0" rIns="0" bIns="0" rtlCol="0" anchor="ctr"/>
          <a:lstStyle/>
          <a:p>
            <a:pPr indent="0" marL="0">
              <a:buNone/>
            </a:pPr>
            <a:r>
              <a:rPr lang="en-US" sz="1400" b="1" dirty="0">
                <a:solidFill>
                  <a:srgbClr val="1B2456"/>
                </a:solidFill>
                <a:latin typeface="Calibri" pitchFamily="34" charset="0"/>
                <a:ea typeface="Calibri" pitchFamily="34" charset="-122"/>
                <a:cs typeface="Calibri" pitchFamily="34" charset="-120"/>
              </a:rPr>
              <a:t>Design the Topology</a:t>
            </a:r>
            <a:endParaRPr lang="en-US" sz="1400" dirty="0"/>
          </a:p>
        </p:txBody>
      </p:sp>
      <p:sp>
        <p:nvSpPr>
          <p:cNvPr id="8" name="Text 5"/>
          <p:cNvSpPr/>
          <p:nvPr/>
        </p:nvSpPr>
        <p:spPr>
          <a:xfrm>
            <a:off x="868680" y="3108960"/>
            <a:ext cx="3063240" cy="59436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Calibri" pitchFamily="34" charset="0"/>
                <a:ea typeface="Calibri" pitchFamily="34" charset="-122"/>
                <a:cs typeface="Calibri" pitchFamily="34" charset="-120"/>
              </a:rPr>
              <a:t>Plan device layout, VLAN structure and IP addressing in Packet Tracer.</a:t>
            </a:r>
            <a:endParaRPr lang="en-US" sz="1100" dirty="0"/>
          </a:p>
        </p:txBody>
      </p:sp>
      <p:sp>
        <p:nvSpPr>
          <p:cNvPr id="9" name="Shape 6"/>
          <p:cNvSpPr/>
          <p:nvPr/>
        </p:nvSpPr>
        <p:spPr>
          <a:xfrm>
            <a:off x="4434840" y="1783080"/>
            <a:ext cx="3520440" cy="1965960"/>
          </a:xfrm>
          <a:prstGeom prst="roundRect">
            <a:avLst>
              <a:gd name="adj" fmla="val 3721"/>
            </a:avLst>
          </a:prstGeom>
          <a:solidFill>
            <a:srgbClr val="FFFFFF"/>
          </a:solidFill>
          <a:ln/>
          <a:effectLst>
            <a:outerShdw sx="100000" sy="100000" kx="0" ky="0" algn="bl" rotWithShape="0" blurRad="76200" dist="25400" dir="5400000">
              <a:srgbClr val="9AA3B5">
                <a:alpha val="20000"/>
              </a:srgbClr>
            </a:outerShdw>
          </a:effectLst>
        </p:spPr>
      </p:sp>
      <p:sp>
        <p:nvSpPr>
          <p:cNvPr id="10" name="Shape 7"/>
          <p:cNvSpPr/>
          <p:nvPr/>
        </p:nvSpPr>
        <p:spPr>
          <a:xfrm>
            <a:off x="4709160" y="2039112"/>
            <a:ext cx="548640" cy="548640"/>
          </a:xfrm>
          <a:prstGeom prst="ellipse">
            <a:avLst/>
          </a:prstGeom>
          <a:solidFill>
            <a:srgbClr val="DCE3F7"/>
          </a:solidFill>
          <a:ln/>
        </p:spPr>
      </p:sp>
      <p:pic>
        <p:nvPicPr>
          <p:cNvPr id="11" name="Image 1" descr="/home/claude/icons/ethernet_navy.png">    </p:cNvPr>
          <p:cNvPicPr>
            <a:picLocks noChangeAspect="1"/>
          </p:cNvPicPr>
          <p:nvPr/>
        </p:nvPicPr>
        <p:blipFill>
          <a:blip r:embed="rId2"/>
          <a:stretch>
            <a:fillRect/>
          </a:stretch>
        </p:blipFill>
        <p:spPr>
          <a:xfrm>
            <a:off x="4785970" y="2115922"/>
            <a:ext cx="395021" cy="395021"/>
          </a:xfrm>
          <a:prstGeom prst="rect">
            <a:avLst/>
          </a:prstGeom>
        </p:spPr>
      </p:pic>
      <p:sp>
        <p:nvSpPr>
          <p:cNvPr id="12" name="Text 8"/>
          <p:cNvSpPr/>
          <p:nvPr/>
        </p:nvSpPr>
        <p:spPr>
          <a:xfrm>
            <a:off x="4663440" y="2697480"/>
            <a:ext cx="3063240" cy="411480"/>
          </a:xfrm>
          <a:prstGeom prst="rect">
            <a:avLst/>
          </a:prstGeom>
          <a:noFill/>
          <a:ln/>
        </p:spPr>
        <p:txBody>
          <a:bodyPr wrap="square" lIns="0" tIns="0" rIns="0" bIns="0" rtlCol="0" anchor="ctr"/>
          <a:lstStyle/>
          <a:p>
            <a:pPr indent="0" marL="0">
              <a:buNone/>
            </a:pPr>
            <a:r>
              <a:rPr lang="en-US" sz="1400" b="1" dirty="0">
                <a:solidFill>
                  <a:srgbClr val="1B2456"/>
                </a:solidFill>
                <a:latin typeface="Calibri" pitchFamily="34" charset="0"/>
                <a:ea typeface="Calibri" pitchFamily="34" charset="-122"/>
                <a:cs typeface="Calibri" pitchFamily="34" charset="-120"/>
              </a:rPr>
              <a:t>Explore Devices &amp; Links</a:t>
            </a:r>
            <a:endParaRPr lang="en-US" sz="1400" dirty="0"/>
          </a:p>
        </p:txBody>
      </p:sp>
      <p:sp>
        <p:nvSpPr>
          <p:cNvPr id="13" name="Text 9"/>
          <p:cNvSpPr/>
          <p:nvPr/>
        </p:nvSpPr>
        <p:spPr>
          <a:xfrm>
            <a:off x="4663440" y="3108960"/>
            <a:ext cx="3063240" cy="59436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Calibri" pitchFamily="34" charset="0"/>
                <a:ea typeface="Calibri" pitchFamily="34" charset="-122"/>
                <a:cs typeface="Calibri" pitchFamily="34" charset="-120"/>
              </a:rPr>
              <a:t>Connect and configure devices to observe practical networking behaviour.</a:t>
            </a:r>
            <a:endParaRPr lang="en-US" sz="1100" dirty="0"/>
          </a:p>
        </p:txBody>
      </p:sp>
      <p:sp>
        <p:nvSpPr>
          <p:cNvPr id="14" name="Shape 10"/>
          <p:cNvSpPr/>
          <p:nvPr/>
        </p:nvSpPr>
        <p:spPr>
          <a:xfrm>
            <a:off x="8229600" y="1783080"/>
            <a:ext cx="3520440" cy="1965960"/>
          </a:xfrm>
          <a:prstGeom prst="roundRect">
            <a:avLst>
              <a:gd name="adj" fmla="val 3721"/>
            </a:avLst>
          </a:prstGeom>
          <a:solidFill>
            <a:srgbClr val="FFFFFF"/>
          </a:solidFill>
          <a:ln/>
          <a:effectLst>
            <a:outerShdw sx="100000" sy="100000" kx="0" ky="0" algn="bl" rotWithShape="0" blurRad="76200" dist="25400" dir="5400000">
              <a:srgbClr val="9AA3B5">
                <a:alpha val="20000"/>
              </a:srgbClr>
            </a:outerShdw>
          </a:effectLst>
        </p:spPr>
      </p:sp>
      <p:sp>
        <p:nvSpPr>
          <p:cNvPr id="15" name="Shape 11"/>
          <p:cNvSpPr/>
          <p:nvPr/>
        </p:nvSpPr>
        <p:spPr>
          <a:xfrm>
            <a:off x="8503920" y="2039112"/>
            <a:ext cx="548640" cy="548640"/>
          </a:xfrm>
          <a:prstGeom prst="ellipse">
            <a:avLst/>
          </a:prstGeom>
          <a:solidFill>
            <a:srgbClr val="DCE3F7"/>
          </a:solidFill>
          <a:ln/>
        </p:spPr>
      </p:sp>
      <p:pic>
        <p:nvPicPr>
          <p:cNvPr id="16" name="Image 2" descr="/home/claude/icons/bookopen_navy.png">    </p:cNvPr>
          <p:cNvPicPr>
            <a:picLocks noChangeAspect="1"/>
          </p:cNvPicPr>
          <p:nvPr/>
        </p:nvPicPr>
        <p:blipFill>
          <a:blip r:embed="rId3"/>
          <a:stretch>
            <a:fillRect/>
          </a:stretch>
        </p:blipFill>
        <p:spPr>
          <a:xfrm>
            <a:off x="8580730" y="2115922"/>
            <a:ext cx="395021" cy="395021"/>
          </a:xfrm>
          <a:prstGeom prst="rect">
            <a:avLst/>
          </a:prstGeom>
        </p:spPr>
      </p:pic>
      <p:sp>
        <p:nvSpPr>
          <p:cNvPr id="17" name="Text 12"/>
          <p:cNvSpPr/>
          <p:nvPr/>
        </p:nvSpPr>
        <p:spPr>
          <a:xfrm>
            <a:off x="8458200" y="2697480"/>
            <a:ext cx="3063240" cy="411480"/>
          </a:xfrm>
          <a:prstGeom prst="rect">
            <a:avLst/>
          </a:prstGeom>
          <a:noFill/>
          <a:ln/>
        </p:spPr>
        <p:txBody>
          <a:bodyPr wrap="square" lIns="0" tIns="0" rIns="0" bIns="0" rtlCol="0" anchor="ctr"/>
          <a:lstStyle/>
          <a:p>
            <a:pPr indent="0" marL="0">
              <a:buNone/>
            </a:pPr>
            <a:r>
              <a:rPr lang="en-US" sz="1400" b="1" dirty="0">
                <a:solidFill>
                  <a:srgbClr val="1B2456"/>
                </a:solidFill>
                <a:latin typeface="Calibri" pitchFamily="34" charset="0"/>
                <a:ea typeface="Calibri" pitchFamily="34" charset="-122"/>
                <a:cs typeface="Calibri" pitchFamily="34" charset="-120"/>
              </a:rPr>
              <a:t>Master Networking Essentials</a:t>
            </a:r>
            <a:endParaRPr lang="en-US" sz="1400" dirty="0"/>
          </a:p>
        </p:txBody>
      </p:sp>
      <p:sp>
        <p:nvSpPr>
          <p:cNvPr id="18" name="Text 13"/>
          <p:cNvSpPr/>
          <p:nvPr/>
        </p:nvSpPr>
        <p:spPr>
          <a:xfrm>
            <a:off x="8458200" y="3108960"/>
            <a:ext cx="3063240" cy="59436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Calibri" pitchFamily="34" charset="0"/>
                <a:ea typeface="Calibri" pitchFamily="34" charset="-122"/>
                <a:cs typeface="Calibri" pitchFamily="34" charset="-120"/>
              </a:rPr>
              <a:t>Learn addressing, subnetting, switching and routing fundamentals.</a:t>
            </a:r>
            <a:endParaRPr lang="en-US" sz="1100" dirty="0"/>
          </a:p>
        </p:txBody>
      </p:sp>
      <p:sp>
        <p:nvSpPr>
          <p:cNvPr id="19" name="Shape 14"/>
          <p:cNvSpPr/>
          <p:nvPr/>
        </p:nvSpPr>
        <p:spPr>
          <a:xfrm>
            <a:off x="640080" y="4023360"/>
            <a:ext cx="3520440" cy="1965960"/>
          </a:xfrm>
          <a:prstGeom prst="roundRect">
            <a:avLst>
              <a:gd name="adj" fmla="val 3721"/>
            </a:avLst>
          </a:prstGeom>
          <a:solidFill>
            <a:srgbClr val="FFFFFF"/>
          </a:solidFill>
          <a:ln/>
          <a:effectLst>
            <a:outerShdw sx="100000" sy="100000" kx="0" ky="0" algn="bl" rotWithShape="0" blurRad="76200" dist="25400" dir="5400000">
              <a:srgbClr val="9AA3B5">
                <a:alpha val="20000"/>
              </a:srgbClr>
            </a:outerShdw>
          </a:effectLst>
        </p:spPr>
      </p:sp>
      <p:sp>
        <p:nvSpPr>
          <p:cNvPr id="20" name="Shape 15"/>
          <p:cNvSpPr/>
          <p:nvPr/>
        </p:nvSpPr>
        <p:spPr>
          <a:xfrm>
            <a:off x="914400" y="4279392"/>
            <a:ext cx="548640" cy="548640"/>
          </a:xfrm>
          <a:prstGeom prst="ellipse">
            <a:avLst/>
          </a:prstGeom>
          <a:solidFill>
            <a:srgbClr val="DCE3F7"/>
          </a:solidFill>
          <a:ln/>
        </p:spPr>
      </p:sp>
      <p:pic>
        <p:nvPicPr>
          <p:cNvPr id="21" name="Image 3" descr="/home/claude/icons/shield_navy.png">    </p:cNvPr>
          <p:cNvPicPr>
            <a:picLocks noChangeAspect="1"/>
          </p:cNvPicPr>
          <p:nvPr/>
        </p:nvPicPr>
        <p:blipFill>
          <a:blip r:embed="rId4"/>
          <a:stretch>
            <a:fillRect/>
          </a:stretch>
        </p:blipFill>
        <p:spPr>
          <a:xfrm>
            <a:off x="991210" y="4356202"/>
            <a:ext cx="395021" cy="395021"/>
          </a:xfrm>
          <a:prstGeom prst="rect">
            <a:avLst/>
          </a:prstGeom>
        </p:spPr>
      </p:pic>
      <p:sp>
        <p:nvSpPr>
          <p:cNvPr id="22" name="Text 16"/>
          <p:cNvSpPr/>
          <p:nvPr/>
        </p:nvSpPr>
        <p:spPr>
          <a:xfrm>
            <a:off x="868680" y="4937760"/>
            <a:ext cx="3063240" cy="411480"/>
          </a:xfrm>
          <a:prstGeom prst="rect">
            <a:avLst/>
          </a:prstGeom>
          <a:noFill/>
          <a:ln/>
        </p:spPr>
        <p:txBody>
          <a:bodyPr wrap="square" lIns="0" tIns="0" rIns="0" bIns="0" rtlCol="0" anchor="ctr"/>
          <a:lstStyle/>
          <a:p>
            <a:pPr indent="0" marL="0">
              <a:buNone/>
            </a:pPr>
            <a:r>
              <a:rPr lang="en-US" sz="1400" b="1" dirty="0">
                <a:solidFill>
                  <a:srgbClr val="1B2456"/>
                </a:solidFill>
                <a:latin typeface="Calibri" pitchFamily="34" charset="0"/>
                <a:ea typeface="Calibri" pitchFamily="34" charset="-122"/>
                <a:cs typeface="Calibri" pitchFamily="34" charset="-120"/>
              </a:rPr>
              <a:t>Apply VLAN &amp; ACL Security</a:t>
            </a:r>
            <a:endParaRPr lang="en-US" sz="1400" dirty="0"/>
          </a:p>
        </p:txBody>
      </p:sp>
      <p:sp>
        <p:nvSpPr>
          <p:cNvPr id="23" name="Text 17"/>
          <p:cNvSpPr/>
          <p:nvPr/>
        </p:nvSpPr>
        <p:spPr>
          <a:xfrm>
            <a:off x="868680" y="5349240"/>
            <a:ext cx="3063240" cy="59436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Calibri" pitchFamily="34" charset="0"/>
                <a:ea typeface="Calibri" pitchFamily="34" charset="-122"/>
                <a:cs typeface="Calibri" pitchFamily="34" charset="-120"/>
              </a:rPr>
              <a:t>Segment traffic with VLANs and filter it using ACLs and NAT.</a:t>
            </a:r>
            <a:endParaRPr lang="en-US" sz="1100" dirty="0"/>
          </a:p>
        </p:txBody>
      </p:sp>
      <p:sp>
        <p:nvSpPr>
          <p:cNvPr id="24" name="Shape 18"/>
          <p:cNvSpPr/>
          <p:nvPr/>
        </p:nvSpPr>
        <p:spPr>
          <a:xfrm>
            <a:off x="4434840" y="4023360"/>
            <a:ext cx="3520440" cy="1965960"/>
          </a:xfrm>
          <a:prstGeom prst="roundRect">
            <a:avLst>
              <a:gd name="adj" fmla="val 3721"/>
            </a:avLst>
          </a:prstGeom>
          <a:solidFill>
            <a:srgbClr val="FFFFFF"/>
          </a:solidFill>
          <a:ln/>
          <a:effectLst>
            <a:outerShdw sx="100000" sy="100000" kx="0" ky="0" algn="bl" rotWithShape="0" blurRad="76200" dist="25400" dir="5400000">
              <a:srgbClr val="9AA3B5">
                <a:alpha val="20000"/>
              </a:srgbClr>
            </a:outerShdw>
          </a:effectLst>
        </p:spPr>
      </p:sp>
      <p:sp>
        <p:nvSpPr>
          <p:cNvPr id="25" name="Shape 19"/>
          <p:cNvSpPr/>
          <p:nvPr/>
        </p:nvSpPr>
        <p:spPr>
          <a:xfrm>
            <a:off x="4709160" y="4279392"/>
            <a:ext cx="548640" cy="548640"/>
          </a:xfrm>
          <a:prstGeom prst="ellipse">
            <a:avLst/>
          </a:prstGeom>
          <a:solidFill>
            <a:srgbClr val="DCE3F7"/>
          </a:solidFill>
          <a:ln/>
        </p:spPr>
      </p:sp>
      <p:pic>
        <p:nvPicPr>
          <p:cNvPr id="26" name="Image 4" descr="/home/claude/icons/tools_navy.png">    </p:cNvPr>
          <p:cNvPicPr>
            <a:picLocks noChangeAspect="1"/>
          </p:cNvPicPr>
          <p:nvPr/>
        </p:nvPicPr>
        <p:blipFill>
          <a:blip r:embed="rId5"/>
          <a:stretch>
            <a:fillRect/>
          </a:stretch>
        </p:blipFill>
        <p:spPr>
          <a:xfrm>
            <a:off x="4785970" y="4356202"/>
            <a:ext cx="395021" cy="395021"/>
          </a:xfrm>
          <a:prstGeom prst="rect">
            <a:avLst/>
          </a:prstGeom>
        </p:spPr>
      </p:pic>
      <p:sp>
        <p:nvSpPr>
          <p:cNvPr id="27" name="Text 20"/>
          <p:cNvSpPr/>
          <p:nvPr/>
        </p:nvSpPr>
        <p:spPr>
          <a:xfrm>
            <a:off x="4663440" y="4937760"/>
            <a:ext cx="3063240" cy="411480"/>
          </a:xfrm>
          <a:prstGeom prst="rect">
            <a:avLst/>
          </a:prstGeom>
          <a:noFill/>
          <a:ln/>
        </p:spPr>
        <p:txBody>
          <a:bodyPr wrap="square" lIns="0" tIns="0" rIns="0" bIns="0" rtlCol="0" anchor="ctr"/>
          <a:lstStyle/>
          <a:p>
            <a:pPr indent="0" marL="0">
              <a:buNone/>
            </a:pPr>
            <a:r>
              <a:rPr lang="en-US" sz="1400" b="1" dirty="0">
                <a:solidFill>
                  <a:srgbClr val="1B2456"/>
                </a:solidFill>
                <a:latin typeface="Calibri" pitchFamily="34" charset="0"/>
                <a:ea typeface="Calibri" pitchFamily="34" charset="-122"/>
                <a:cs typeface="Calibri" pitchFamily="34" charset="-120"/>
              </a:rPr>
              <a:t>Practice Fault Diagnosis</a:t>
            </a:r>
            <a:endParaRPr lang="en-US" sz="1400" dirty="0"/>
          </a:p>
        </p:txBody>
      </p:sp>
      <p:sp>
        <p:nvSpPr>
          <p:cNvPr id="28" name="Text 21"/>
          <p:cNvSpPr/>
          <p:nvPr/>
        </p:nvSpPr>
        <p:spPr>
          <a:xfrm>
            <a:off x="4663440" y="5349240"/>
            <a:ext cx="3063240" cy="59436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Calibri" pitchFamily="34" charset="0"/>
                <a:ea typeface="Calibri" pitchFamily="34" charset="-122"/>
                <a:cs typeface="Calibri" pitchFamily="34" charset="-120"/>
              </a:rPr>
              <a:t>Inject and troubleshoot faults across the simulated network.</a:t>
            </a:r>
            <a:endParaRPr lang="en-US" sz="1100" dirty="0"/>
          </a:p>
        </p:txBody>
      </p:sp>
      <p:sp>
        <p:nvSpPr>
          <p:cNvPr id="29" name="Shape 22"/>
          <p:cNvSpPr/>
          <p:nvPr/>
        </p:nvSpPr>
        <p:spPr>
          <a:xfrm>
            <a:off x="8229600" y="4023360"/>
            <a:ext cx="3520440" cy="1965960"/>
          </a:xfrm>
          <a:prstGeom prst="roundRect">
            <a:avLst>
              <a:gd name="adj" fmla="val 3721"/>
            </a:avLst>
          </a:prstGeom>
          <a:solidFill>
            <a:srgbClr val="FFFFFF"/>
          </a:solidFill>
          <a:ln/>
          <a:effectLst>
            <a:outerShdw sx="100000" sy="100000" kx="0" ky="0" algn="bl" rotWithShape="0" blurRad="76200" dist="25400" dir="5400000">
              <a:srgbClr val="9AA3B5">
                <a:alpha val="20000"/>
              </a:srgbClr>
            </a:outerShdw>
          </a:effectLst>
        </p:spPr>
      </p:sp>
      <p:sp>
        <p:nvSpPr>
          <p:cNvPr id="30" name="Shape 23"/>
          <p:cNvSpPr/>
          <p:nvPr/>
        </p:nvSpPr>
        <p:spPr>
          <a:xfrm>
            <a:off x="8503920" y="4279392"/>
            <a:ext cx="548640" cy="548640"/>
          </a:xfrm>
          <a:prstGeom prst="ellipse">
            <a:avLst/>
          </a:prstGeom>
          <a:solidFill>
            <a:srgbClr val="DCE3F7"/>
          </a:solidFill>
          <a:ln/>
        </p:spPr>
      </p:sp>
      <p:pic>
        <p:nvPicPr>
          <p:cNvPr id="31" name="Image 5" descr="/home/claude/icons/laptopcode_navy.png">    </p:cNvPr>
          <p:cNvPicPr>
            <a:picLocks noChangeAspect="1"/>
          </p:cNvPicPr>
          <p:nvPr/>
        </p:nvPicPr>
        <p:blipFill>
          <a:blip r:embed="rId6"/>
          <a:stretch>
            <a:fillRect/>
          </a:stretch>
        </p:blipFill>
        <p:spPr>
          <a:xfrm>
            <a:off x="8580730" y="4356202"/>
            <a:ext cx="395021" cy="395021"/>
          </a:xfrm>
          <a:prstGeom prst="rect">
            <a:avLst/>
          </a:prstGeom>
        </p:spPr>
      </p:pic>
      <p:sp>
        <p:nvSpPr>
          <p:cNvPr id="32" name="Text 24"/>
          <p:cNvSpPr/>
          <p:nvPr/>
        </p:nvSpPr>
        <p:spPr>
          <a:xfrm>
            <a:off x="8458200" y="4937760"/>
            <a:ext cx="3063240" cy="411480"/>
          </a:xfrm>
          <a:prstGeom prst="rect">
            <a:avLst/>
          </a:prstGeom>
          <a:noFill/>
          <a:ln/>
        </p:spPr>
        <p:txBody>
          <a:bodyPr wrap="square" lIns="0" tIns="0" rIns="0" bIns="0" rtlCol="0" anchor="ctr"/>
          <a:lstStyle/>
          <a:p>
            <a:pPr indent="0" marL="0">
              <a:buNone/>
            </a:pPr>
            <a:r>
              <a:rPr lang="en-US" sz="1400" b="1" dirty="0">
                <a:solidFill>
                  <a:srgbClr val="1B2456"/>
                </a:solidFill>
                <a:latin typeface="Calibri" pitchFamily="34" charset="0"/>
                <a:ea typeface="Calibri" pitchFamily="34" charset="-122"/>
                <a:cs typeface="Calibri" pitchFamily="34" charset="-120"/>
              </a:rPr>
              <a:t>Build a Python Assurance Tool</a:t>
            </a:r>
            <a:endParaRPr lang="en-US" sz="1400" dirty="0"/>
          </a:p>
        </p:txBody>
      </p:sp>
      <p:sp>
        <p:nvSpPr>
          <p:cNvPr id="33" name="Text 25"/>
          <p:cNvSpPr/>
          <p:nvPr/>
        </p:nvSpPr>
        <p:spPr>
          <a:xfrm>
            <a:off x="8458200" y="5349240"/>
            <a:ext cx="3063240" cy="59436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Calibri" pitchFamily="34" charset="0"/>
                <a:ea typeface="Calibri" pitchFamily="34" charset="-122"/>
                <a:cs typeface="Calibri" pitchFamily="34" charset="-120"/>
              </a:rPr>
              <a:t>Match symptoms to documented faults and suggest fixes.</a:t>
            </a:r>
            <a:endParaRPr lang="en-US" sz="1100" dirty="0"/>
          </a:p>
        </p:txBody>
      </p:sp>
      <p:sp>
        <p:nvSpPr>
          <p:cNvPr id="34" name="Text 26"/>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9AA3B5"/>
                </a:solidFill>
                <a:latin typeface="Calibri" pitchFamily="34" charset="0"/>
                <a:ea typeface="Calibri" pitchFamily="34" charset="-122"/>
                <a:cs typeface="Calibri" pitchFamily="34" charset="-120"/>
              </a:rPr>
              <a:t>Cisco Networking Academy Internship  •  Yadav Hitesh Shravan</a:t>
            </a:r>
            <a:endParaRPr lang="en-US" sz="900" dirty="0"/>
          </a:p>
        </p:txBody>
      </p:sp>
      <p:sp>
        <p:nvSpPr>
          <p:cNvPr id="35" name="Text 27"/>
          <p:cNvSpPr/>
          <p:nvPr/>
        </p:nvSpPr>
        <p:spPr>
          <a:xfrm>
            <a:off x="11430000" y="6537960"/>
            <a:ext cx="548640" cy="274320"/>
          </a:xfrm>
          <a:prstGeom prst="rect">
            <a:avLst/>
          </a:prstGeom>
          <a:noFill/>
          <a:ln/>
        </p:spPr>
        <p:txBody>
          <a:bodyPr wrap="square" lIns="0" tIns="0" rIns="0" bIns="0" rtlCol="0" anchor="ctr"/>
          <a:lstStyle/>
          <a:p>
            <a:pPr algn="r" indent="0" marL="0">
              <a:buNone/>
            </a:pPr>
            <a:r>
              <a:rPr lang="en-US" sz="900" dirty="0">
                <a:solidFill>
                  <a:srgbClr val="9AA3B5"/>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320040"/>
          </a:xfrm>
          <a:prstGeom prst="rect">
            <a:avLst/>
          </a:prstGeom>
          <a:noFill/>
          <a:ln/>
        </p:spPr>
        <p:txBody>
          <a:bodyPr wrap="square" lIns="0" tIns="0" rIns="0" bIns="0" rtlCol="0" anchor="ctr"/>
          <a:lstStyle/>
          <a:p>
            <a:pPr indent="0" marL="0">
              <a:buNone/>
            </a:pPr>
            <a:r>
              <a:rPr lang="en-US" sz="1200" b="1" spc="200" kern="0" dirty="0">
                <a:solidFill>
                  <a:srgbClr val="F0A93A"/>
                </a:solidFill>
                <a:latin typeface="Calibri" pitchFamily="34" charset="0"/>
                <a:ea typeface="Calibri" pitchFamily="34" charset="-122"/>
                <a:cs typeface="Calibri" pitchFamily="34" charset="-120"/>
              </a:rPr>
              <a:t>TECHNOLOGIES &amp; TOOLS</a:t>
            </a:r>
            <a:endParaRPr lang="en-US" sz="1200" dirty="0"/>
          </a:p>
        </p:txBody>
      </p:sp>
      <p:sp>
        <p:nvSpPr>
          <p:cNvPr id="3" name="Text 1"/>
          <p:cNvSpPr/>
          <p:nvPr/>
        </p:nvSpPr>
        <p:spPr>
          <a:xfrm>
            <a:off x="640080" y="822960"/>
            <a:ext cx="10881360" cy="822960"/>
          </a:xfrm>
          <a:prstGeom prst="rect">
            <a:avLst/>
          </a:prstGeom>
          <a:noFill/>
          <a:ln/>
        </p:spPr>
        <p:txBody>
          <a:bodyPr wrap="square" lIns="0" tIns="0" rIns="0" bIns="0" rtlCol="0" anchor="ctr"/>
          <a:lstStyle/>
          <a:p>
            <a:pPr indent="0" marL="0">
              <a:buNone/>
            </a:pPr>
            <a:r>
              <a:rPr lang="en-US" sz="3200" b="1" dirty="0">
                <a:solidFill>
                  <a:srgbClr val="1B2456"/>
                </a:solidFill>
                <a:latin typeface="Cambria" pitchFamily="34" charset="0"/>
                <a:ea typeface="Cambria" pitchFamily="34" charset="-122"/>
                <a:cs typeface="Cambria" pitchFamily="34" charset="-120"/>
              </a:rPr>
              <a:t>The Toolkit Behind the Internship</a:t>
            </a:r>
            <a:endParaRPr lang="en-US" sz="3200" dirty="0"/>
          </a:p>
        </p:txBody>
      </p:sp>
      <p:sp>
        <p:nvSpPr>
          <p:cNvPr id="4" name="Shape 2"/>
          <p:cNvSpPr/>
          <p:nvPr/>
        </p:nvSpPr>
        <p:spPr>
          <a:xfrm>
            <a:off x="640080" y="1783080"/>
            <a:ext cx="2542032" cy="2148840"/>
          </a:xfrm>
          <a:prstGeom prst="roundRect">
            <a:avLst>
              <a:gd name="adj" fmla="val 3404"/>
            </a:avLst>
          </a:prstGeom>
          <a:solidFill>
            <a:srgbClr val="EEF1FA"/>
          </a:solidFill>
          <a:ln/>
        </p:spPr>
      </p:sp>
      <p:sp>
        <p:nvSpPr>
          <p:cNvPr id="5" name="Shape 3"/>
          <p:cNvSpPr/>
          <p:nvPr/>
        </p:nvSpPr>
        <p:spPr>
          <a:xfrm>
            <a:off x="1591056" y="2057400"/>
            <a:ext cx="640080" cy="640080"/>
          </a:xfrm>
          <a:prstGeom prst="ellipse">
            <a:avLst/>
          </a:prstGeom>
          <a:solidFill>
            <a:srgbClr val="FFFFFF"/>
          </a:solidFill>
          <a:ln/>
        </p:spPr>
      </p:sp>
      <p:pic>
        <p:nvPicPr>
          <p:cNvPr id="6" name="Image 0" descr="/home/claude/icons/projectdiagram_navy.png">    </p:cNvPr>
          <p:cNvPicPr>
            <a:picLocks noChangeAspect="1"/>
          </p:cNvPicPr>
          <p:nvPr/>
        </p:nvPicPr>
        <p:blipFill>
          <a:blip r:embed="rId1"/>
          <a:stretch>
            <a:fillRect/>
          </a:stretch>
        </p:blipFill>
        <p:spPr>
          <a:xfrm>
            <a:off x="1680667" y="2147011"/>
            <a:ext cx="460858" cy="460858"/>
          </a:xfrm>
          <a:prstGeom prst="rect">
            <a:avLst/>
          </a:prstGeom>
        </p:spPr>
      </p:pic>
      <p:sp>
        <p:nvSpPr>
          <p:cNvPr id="7" name="Text 4"/>
          <p:cNvSpPr/>
          <p:nvPr/>
        </p:nvSpPr>
        <p:spPr>
          <a:xfrm>
            <a:off x="777240" y="2926080"/>
            <a:ext cx="2267712" cy="457200"/>
          </a:xfrm>
          <a:prstGeom prst="rect">
            <a:avLst/>
          </a:prstGeom>
          <a:noFill/>
          <a:ln/>
        </p:spPr>
        <p:txBody>
          <a:bodyPr wrap="square" lIns="0" tIns="0" rIns="0" bIns="0" rtlCol="0" anchor="ctr"/>
          <a:lstStyle/>
          <a:p>
            <a:pPr algn="ctr" indent="0" marL="0">
              <a:buNone/>
            </a:pPr>
            <a:r>
              <a:rPr lang="en-US" sz="1350" b="1" dirty="0">
                <a:solidFill>
                  <a:srgbClr val="1B2456"/>
                </a:solidFill>
                <a:latin typeface="Calibri" pitchFamily="34" charset="0"/>
                <a:ea typeface="Calibri" pitchFamily="34" charset="-122"/>
                <a:cs typeface="Calibri" pitchFamily="34" charset="-120"/>
              </a:rPr>
              <a:t>Packet Tracer</a:t>
            </a:r>
            <a:endParaRPr lang="en-US" sz="1350" dirty="0"/>
          </a:p>
        </p:txBody>
      </p:sp>
      <p:sp>
        <p:nvSpPr>
          <p:cNvPr id="8" name="Text 5"/>
          <p:cNvSpPr/>
          <p:nvPr/>
        </p:nvSpPr>
        <p:spPr>
          <a:xfrm>
            <a:off x="777240" y="3355848"/>
            <a:ext cx="2267712" cy="45720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Network simulation</a:t>
            </a:r>
            <a:endParaRPr lang="en-US" sz="1050" dirty="0"/>
          </a:p>
        </p:txBody>
      </p:sp>
      <p:sp>
        <p:nvSpPr>
          <p:cNvPr id="9" name="Shape 6"/>
          <p:cNvSpPr/>
          <p:nvPr/>
        </p:nvSpPr>
        <p:spPr>
          <a:xfrm>
            <a:off x="3401568" y="1783080"/>
            <a:ext cx="2542032" cy="2148840"/>
          </a:xfrm>
          <a:prstGeom prst="roundRect">
            <a:avLst>
              <a:gd name="adj" fmla="val 3404"/>
            </a:avLst>
          </a:prstGeom>
          <a:solidFill>
            <a:srgbClr val="EEF1FA"/>
          </a:solidFill>
          <a:ln/>
        </p:spPr>
      </p:sp>
      <p:sp>
        <p:nvSpPr>
          <p:cNvPr id="10" name="Shape 7"/>
          <p:cNvSpPr/>
          <p:nvPr/>
        </p:nvSpPr>
        <p:spPr>
          <a:xfrm>
            <a:off x="4352544" y="2057400"/>
            <a:ext cx="640080" cy="640080"/>
          </a:xfrm>
          <a:prstGeom prst="ellipse">
            <a:avLst/>
          </a:prstGeom>
          <a:solidFill>
            <a:srgbClr val="FFFFFF"/>
          </a:solidFill>
          <a:ln/>
        </p:spPr>
      </p:sp>
      <p:pic>
        <p:nvPicPr>
          <p:cNvPr id="11" name="Image 1" descr="/home/claude/icons/networkwired_navy.png">    </p:cNvPr>
          <p:cNvPicPr>
            <a:picLocks noChangeAspect="1"/>
          </p:cNvPicPr>
          <p:nvPr/>
        </p:nvPicPr>
        <p:blipFill>
          <a:blip r:embed="rId2"/>
          <a:stretch>
            <a:fillRect/>
          </a:stretch>
        </p:blipFill>
        <p:spPr>
          <a:xfrm>
            <a:off x="4442155" y="2147011"/>
            <a:ext cx="460858" cy="460858"/>
          </a:xfrm>
          <a:prstGeom prst="rect">
            <a:avLst/>
          </a:prstGeom>
        </p:spPr>
      </p:pic>
      <p:sp>
        <p:nvSpPr>
          <p:cNvPr id="12" name="Text 8"/>
          <p:cNvSpPr/>
          <p:nvPr/>
        </p:nvSpPr>
        <p:spPr>
          <a:xfrm>
            <a:off x="3538728" y="2926080"/>
            <a:ext cx="2267712" cy="457200"/>
          </a:xfrm>
          <a:prstGeom prst="rect">
            <a:avLst/>
          </a:prstGeom>
          <a:noFill/>
          <a:ln/>
        </p:spPr>
        <p:txBody>
          <a:bodyPr wrap="square" lIns="0" tIns="0" rIns="0" bIns="0" rtlCol="0" anchor="ctr"/>
          <a:lstStyle/>
          <a:p>
            <a:pPr algn="ctr" indent="0" marL="0">
              <a:buNone/>
            </a:pPr>
            <a:r>
              <a:rPr lang="en-US" sz="1350" b="1" dirty="0">
                <a:solidFill>
                  <a:srgbClr val="1B2456"/>
                </a:solidFill>
                <a:latin typeface="Calibri" pitchFamily="34" charset="0"/>
                <a:ea typeface="Calibri" pitchFamily="34" charset="-122"/>
                <a:cs typeface="Calibri" pitchFamily="34" charset="-120"/>
              </a:rPr>
              <a:t>NetAcad Platform</a:t>
            </a:r>
            <a:endParaRPr lang="en-US" sz="1350" dirty="0"/>
          </a:p>
        </p:txBody>
      </p:sp>
      <p:sp>
        <p:nvSpPr>
          <p:cNvPr id="13" name="Text 9"/>
          <p:cNvSpPr/>
          <p:nvPr/>
        </p:nvSpPr>
        <p:spPr>
          <a:xfrm>
            <a:off x="3538728" y="3355848"/>
            <a:ext cx="2267712" cy="45720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Course delivery</a:t>
            </a:r>
            <a:endParaRPr lang="en-US" sz="1050" dirty="0"/>
          </a:p>
        </p:txBody>
      </p:sp>
      <p:sp>
        <p:nvSpPr>
          <p:cNvPr id="14" name="Shape 10"/>
          <p:cNvSpPr/>
          <p:nvPr/>
        </p:nvSpPr>
        <p:spPr>
          <a:xfrm>
            <a:off x="6163056" y="1783080"/>
            <a:ext cx="2542032" cy="2148840"/>
          </a:xfrm>
          <a:prstGeom prst="roundRect">
            <a:avLst>
              <a:gd name="adj" fmla="val 3404"/>
            </a:avLst>
          </a:prstGeom>
          <a:solidFill>
            <a:srgbClr val="EEF1FA"/>
          </a:solidFill>
          <a:ln/>
        </p:spPr>
      </p:sp>
      <p:sp>
        <p:nvSpPr>
          <p:cNvPr id="15" name="Shape 11"/>
          <p:cNvSpPr/>
          <p:nvPr/>
        </p:nvSpPr>
        <p:spPr>
          <a:xfrm>
            <a:off x="7114032" y="2057400"/>
            <a:ext cx="640080" cy="640080"/>
          </a:xfrm>
          <a:prstGeom prst="ellipse">
            <a:avLst/>
          </a:prstGeom>
          <a:solidFill>
            <a:srgbClr val="FFFFFF"/>
          </a:solidFill>
          <a:ln/>
        </p:spPr>
      </p:sp>
      <p:pic>
        <p:nvPicPr>
          <p:cNvPr id="16" name="Image 2" descr="/home/claude/icons/codebranch_navy.png">    </p:cNvPr>
          <p:cNvPicPr>
            <a:picLocks noChangeAspect="1"/>
          </p:cNvPicPr>
          <p:nvPr/>
        </p:nvPicPr>
        <p:blipFill>
          <a:blip r:embed="rId3"/>
          <a:stretch>
            <a:fillRect/>
          </a:stretch>
        </p:blipFill>
        <p:spPr>
          <a:xfrm>
            <a:off x="7203643" y="2147011"/>
            <a:ext cx="460858" cy="460858"/>
          </a:xfrm>
          <a:prstGeom prst="rect">
            <a:avLst/>
          </a:prstGeom>
        </p:spPr>
      </p:pic>
      <p:sp>
        <p:nvSpPr>
          <p:cNvPr id="17" name="Text 12"/>
          <p:cNvSpPr/>
          <p:nvPr/>
        </p:nvSpPr>
        <p:spPr>
          <a:xfrm>
            <a:off x="6300216" y="2926080"/>
            <a:ext cx="2267712" cy="457200"/>
          </a:xfrm>
          <a:prstGeom prst="rect">
            <a:avLst/>
          </a:prstGeom>
          <a:noFill/>
          <a:ln/>
        </p:spPr>
        <p:txBody>
          <a:bodyPr wrap="square" lIns="0" tIns="0" rIns="0" bIns="0" rtlCol="0" anchor="ctr"/>
          <a:lstStyle/>
          <a:p>
            <a:pPr algn="ctr" indent="0" marL="0">
              <a:buNone/>
            </a:pPr>
            <a:r>
              <a:rPr lang="en-US" sz="1350" b="1" dirty="0">
                <a:solidFill>
                  <a:srgbClr val="1B2456"/>
                </a:solidFill>
                <a:latin typeface="Calibri" pitchFamily="34" charset="0"/>
                <a:ea typeface="Calibri" pitchFamily="34" charset="-122"/>
                <a:cs typeface="Calibri" pitchFamily="34" charset="-120"/>
              </a:rPr>
              <a:t>VLANs &amp; Trunking</a:t>
            </a:r>
            <a:endParaRPr lang="en-US" sz="1350" dirty="0"/>
          </a:p>
        </p:txBody>
      </p:sp>
      <p:sp>
        <p:nvSpPr>
          <p:cNvPr id="18" name="Text 13"/>
          <p:cNvSpPr/>
          <p:nvPr/>
        </p:nvSpPr>
        <p:spPr>
          <a:xfrm>
            <a:off x="6300216" y="3355848"/>
            <a:ext cx="2267712" cy="45720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Traffic segmentation</a:t>
            </a:r>
            <a:endParaRPr lang="en-US" sz="1050" dirty="0"/>
          </a:p>
        </p:txBody>
      </p:sp>
      <p:sp>
        <p:nvSpPr>
          <p:cNvPr id="19" name="Shape 14"/>
          <p:cNvSpPr/>
          <p:nvPr/>
        </p:nvSpPr>
        <p:spPr>
          <a:xfrm>
            <a:off x="8924544" y="1783080"/>
            <a:ext cx="2542032" cy="2148840"/>
          </a:xfrm>
          <a:prstGeom prst="roundRect">
            <a:avLst>
              <a:gd name="adj" fmla="val 3404"/>
            </a:avLst>
          </a:prstGeom>
          <a:solidFill>
            <a:srgbClr val="EEF1FA"/>
          </a:solidFill>
          <a:ln/>
        </p:spPr>
      </p:sp>
      <p:sp>
        <p:nvSpPr>
          <p:cNvPr id="20" name="Shape 15"/>
          <p:cNvSpPr/>
          <p:nvPr/>
        </p:nvSpPr>
        <p:spPr>
          <a:xfrm>
            <a:off x="9875520" y="2057400"/>
            <a:ext cx="640080" cy="640080"/>
          </a:xfrm>
          <a:prstGeom prst="ellipse">
            <a:avLst/>
          </a:prstGeom>
          <a:solidFill>
            <a:srgbClr val="FFFFFF"/>
          </a:solidFill>
          <a:ln/>
        </p:spPr>
      </p:sp>
      <p:pic>
        <p:nvPicPr>
          <p:cNvPr id="21" name="Image 3" descr="/home/claude/icons/server_navy.png">    </p:cNvPr>
          <p:cNvPicPr>
            <a:picLocks noChangeAspect="1"/>
          </p:cNvPicPr>
          <p:nvPr/>
        </p:nvPicPr>
        <p:blipFill>
          <a:blip r:embed="rId4"/>
          <a:stretch>
            <a:fillRect/>
          </a:stretch>
        </p:blipFill>
        <p:spPr>
          <a:xfrm>
            <a:off x="9965131" y="2147011"/>
            <a:ext cx="460858" cy="460858"/>
          </a:xfrm>
          <a:prstGeom prst="rect">
            <a:avLst/>
          </a:prstGeom>
        </p:spPr>
      </p:pic>
      <p:sp>
        <p:nvSpPr>
          <p:cNvPr id="22" name="Text 16"/>
          <p:cNvSpPr/>
          <p:nvPr/>
        </p:nvSpPr>
        <p:spPr>
          <a:xfrm>
            <a:off x="9061704" y="2926080"/>
            <a:ext cx="2267712" cy="457200"/>
          </a:xfrm>
          <a:prstGeom prst="rect">
            <a:avLst/>
          </a:prstGeom>
          <a:noFill/>
          <a:ln/>
        </p:spPr>
        <p:txBody>
          <a:bodyPr wrap="square" lIns="0" tIns="0" rIns="0" bIns="0" rtlCol="0" anchor="ctr"/>
          <a:lstStyle/>
          <a:p>
            <a:pPr algn="ctr" indent="0" marL="0">
              <a:buNone/>
            </a:pPr>
            <a:r>
              <a:rPr lang="en-US" sz="1350" b="1" dirty="0">
                <a:solidFill>
                  <a:srgbClr val="1B2456"/>
                </a:solidFill>
                <a:latin typeface="Calibri" pitchFamily="34" charset="0"/>
                <a:ea typeface="Calibri" pitchFamily="34" charset="-122"/>
                <a:cs typeface="Calibri" pitchFamily="34" charset="-120"/>
              </a:rPr>
              <a:t>DHCP &amp; DNS</a:t>
            </a:r>
            <a:endParaRPr lang="en-US" sz="1350" dirty="0"/>
          </a:p>
        </p:txBody>
      </p:sp>
      <p:sp>
        <p:nvSpPr>
          <p:cNvPr id="23" name="Text 17"/>
          <p:cNvSpPr/>
          <p:nvPr/>
        </p:nvSpPr>
        <p:spPr>
          <a:xfrm>
            <a:off x="9061704" y="3355848"/>
            <a:ext cx="2267712" cy="45720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Addressing &amp; resolution</a:t>
            </a:r>
            <a:endParaRPr lang="en-US" sz="1050" dirty="0"/>
          </a:p>
        </p:txBody>
      </p:sp>
      <p:sp>
        <p:nvSpPr>
          <p:cNvPr id="24" name="Shape 18"/>
          <p:cNvSpPr/>
          <p:nvPr/>
        </p:nvSpPr>
        <p:spPr>
          <a:xfrm>
            <a:off x="640080" y="4206240"/>
            <a:ext cx="2542032" cy="2148840"/>
          </a:xfrm>
          <a:prstGeom prst="roundRect">
            <a:avLst>
              <a:gd name="adj" fmla="val 3404"/>
            </a:avLst>
          </a:prstGeom>
          <a:solidFill>
            <a:srgbClr val="EEF1FA"/>
          </a:solidFill>
          <a:ln/>
        </p:spPr>
      </p:sp>
      <p:sp>
        <p:nvSpPr>
          <p:cNvPr id="25" name="Shape 19"/>
          <p:cNvSpPr/>
          <p:nvPr/>
        </p:nvSpPr>
        <p:spPr>
          <a:xfrm>
            <a:off x="1591056" y="4480560"/>
            <a:ext cx="640080" cy="640080"/>
          </a:xfrm>
          <a:prstGeom prst="ellipse">
            <a:avLst/>
          </a:prstGeom>
          <a:solidFill>
            <a:srgbClr val="FFFFFF"/>
          </a:solidFill>
          <a:ln/>
        </p:spPr>
      </p:sp>
      <p:pic>
        <p:nvPicPr>
          <p:cNvPr id="26" name="Image 4" descr="/home/claude/icons/route_navy.png">    </p:cNvPr>
          <p:cNvPicPr>
            <a:picLocks noChangeAspect="1"/>
          </p:cNvPicPr>
          <p:nvPr/>
        </p:nvPicPr>
        <p:blipFill>
          <a:blip r:embed="rId5"/>
          <a:stretch>
            <a:fillRect/>
          </a:stretch>
        </p:blipFill>
        <p:spPr>
          <a:xfrm>
            <a:off x="1680667" y="4570171"/>
            <a:ext cx="460858" cy="460858"/>
          </a:xfrm>
          <a:prstGeom prst="rect">
            <a:avLst/>
          </a:prstGeom>
        </p:spPr>
      </p:pic>
      <p:sp>
        <p:nvSpPr>
          <p:cNvPr id="27" name="Text 20"/>
          <p:cNvSpPr/>
          <p:nvPr/>
        </p:nvSpPr>
        <p:spPr>
          <a:xfrm>
            <a:off x="777240" y="5349240"/>
            <a:ext cx="2267712" cy="457200"/>
          </a:xfrm>
          <a:prstGeom prst="rect">
            <a:avLst/>
          </a:prstGeom>
          <a:noFill/>
          <a:ln/>
        </p:spPr>
        <p:txBody>
          <a:bodyPr wrap="square" lIns="0" tIns="0" rIns="0" bIns="0" rtlCol="0" anchor="ctr"/>
          <a:lstStyle/>
          <a:p>
            <a:pPr algn="ctr" indent="0" marL="0">
              <a:buNone/>
            </a:pPr>
            <a:r>
              <a:rPr lang="en-US" sz="1350" b="1" dirty="0">
                <a:solidFill>
                  <a:srgbClr val="1B2456"/>
                </a:solidFill>
                <a:latin typeface="Calibri" pitchFamily="34" charset="0"/>
                <a:ea typeface="Calibri" pitchFamily="34" charset="-122"/>
                <a:cs typeface="Calibri" pitchFamily="34" charset="-120"/>
              </a:rPr>
              <a:t>Static Routing</a:t>
            </a:r>
            <a:endParaRPr lang="en-US" sz="1350" dirty="0"/>
          </a:p>
        </p:txBody>
      </p:sp>
      <p:sp>
        <p:nvSpPr>
          <p:cNvPr id="28" name="Text 21"/>
          <p:cNvSpPr/>
          <p:nvPr/>
        </p:nvSpPr>
        <p:spPr>
          <a:xfrm>
            <a:off x="777240" y="5779008"/>
            <a:ext cx="2267712" cy="45720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Inter-network paths</a:t>
            </a:r>
            <a:endParaRPr lang="en-US" sz="1050" dirty="0"/>
          </a:p>
        </p:txBody>
      </p:sp>
      <p:sp>
        <p:nvSpPr>
          <p:cNvPr id="29" name="Shape 22"/>
          <p:cNvSpPr/>
          <p:nvPr/>
        </p:nvSpPr>
        <p:spPr>
          <a:xfrm>
            <a:off x="3401568" y="4206240"/>
            <a:ext cx="2542032" cy="2148840"/>
          </a:xfrm>
          <a:prstGeom prst="roundRect">
            <a:avLst>
              <a:gd name="adj" fmla="val 3404"/>
            </a:avLst>
          </a:prstGeom>
          <a:solidFill>
            <a:srgbClr val="EEF1FA"/>
          </a:solidFill>
          <a:ln/>
        </p:spPr>
      </p:sp>
      <p:sp>
        <p:nvSpPr>
          <p:cNvPr id="30" name="Shape 23"/>
          <p:cNvSpPr/>
          <p:nvPr/>
        </p:nvSpPr>
        <p:spPr>
          <a:xfrm>
            <a:off x="4352544" y="4480560"/>
            <a:ext cx="640080" cy="640080"/>
          </a:xfrm>
          <a:prstGeom prst="ellipse">
            <a:avLst/>
          </a:prstGeom>
          <a:solidFill>
            <a:srgbClr val="FFFFFF"/>
          </a:solidFill>
          <a:ln/>
        </p:spPr>
      </p:sp>
      <p:pic>
        <p:nvPicPr>
          <p:cNvPr id="31" name="Image 5" descr="/home/claude/icons/ban_navy.png">    </p:cNvPr>
          <p:cNvPicPr>
            <a:picLocks noChangeAspect="1"/>
          </p:cNvPicPr>
          <p:nvPr/>
        </p:nvPicPr>
        <p:blipFill>
          <a:blip r:embed="rId6"/>
          <a:stretch>
            <a:fillRect/>
          </a:stretch>
        </p:blipFill>
        <p:spPr>
          <a:xfrm>
            <a:off x="4442155" y="4570171"/>
            <a:ext cx="460858" cy="460858"/>
          </a:xfrm>
          <a:prstGeom prst="rect">
            <a:avLst/>
          </a:prstGeom>
        </p:spPr>
      </p:pic>
      <p:sp>
        <p:nvSpPr>
          <p:cNvPr id="32" name="Text 24"/>
          <p:cNvSpPr/>
          <p:nvPr/>
        </p:nvSpPr>
        <p:spPr>
          <a:xfrm>
            <a:off x="3538728" y="5349240"/>
            <a:ext cx="2267712" cy="457200"/>
          </a:xfrm>
          <a:prstGeom prst="rect">
            <a:avLst/>
          </a:prstGeom>
          <a:noFill/>
          <a:ln/>
        </p:spPr>
        <p:txBody>
          <a:bodyPr wrap="square" lIns="0" tIns="0" rIns="0" bIns="0" rtlCol="0" anchor="ctr"/>
          <a:lstStyle/>
          <a:p>
            <a:pPr algn="ctr" indent="0" marL="0">
              <a:buNone/>
            </a:pPr>
            <a:r>
              <a:rPr lang="en-US" sz="1350" b="1" dirty="0">
                <a:solidFill>
                  <a:srgbClr val="1B2456"/>
                </a:solidFill>
                <a:latin typeface="Calibri" pitchFamily="34" charset="0"/>
                <a:ea typeface="Calibri" pitchFamily="34" charset="-122"/>
                <a:cs typeface="Calibri" pitchFamily="34" charset="-120"/>
              </a:rPr>
              <a:t>ACL</a:t>
            </a:r>
            <a:endParaRPr lang="en-US" sz="1350" dirty="0"/>
          </a:p>
        </p:txBody>
      </p:sp>
      <p:sp>
        <p:nvSpPr>
          <p:cNvPr id="33" name="Text 25"/>
          <p:cNvSpPr/>
          <p:nvPr/>
        </p:nvSpPr>
        <p:spPr>
          <a:xfrm>
            <a:off x="3538728" y="5779008"/>
            <a:ext cx="2267712" cy="45720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Traffic filtering</a:t>
            </a:r>
            <a:endParaRPr lang="en-US" sz="1050" dirty="0"/>
          </a:p>
        </p:txBody>
      </p:sp>
      <p:sp>
        <p:nvSpPr>
          <p:cNvPr id="34" name="Shape 26"/>
          <p:cNvSpPr/>
          <p:nvPr/>
        </p:nvSpPr>
        <p:spPr>
          <a:xfrm>
            <a:off x="6163056" y="4206240"/>
            <a:ext cx="2542032" cy="2148840"/>
          </a:xfrm>
          <a:prstGeom prst="roundRect">
            <a:avLst>
              <a:gd name="adj" fmla="val 3404"/>
            </a:avLst>
          </a:prstGeom>
          <a:solidFill>
            <a:srgbClr val="EEF1FA"/>
          </a:solidFill>
          <a:ln/>
        </p:spPr>
      </p:sp>
      <p:sp>
        <p:nvSpPr>
          <p:cNvPr id="35" name="Shape 27"/>
          <p:cNvSpPr/>
          <p:nvPr/>
        </p:nvSpPr>
        <p:spPr>
          <a:xfrm>
            <a:off x="7114032" y="4480560"/>
            <a:ext cx="640080" cy="640080"/>
          </a:xfrm>
          <a:prstGeom prst="ellipse">
            <a:avLst/>
          </a:prstGeom>
          <a:solidFill>
            <a:srgbClr val="FFFFFF"/>
          </a:solidFill>
          <a:ln/>
        </p:spPr>
      </p:sp>
      <p:pic>
        <p:nvPicPr>
          <p:cNvPr id="36" name="Image 6" descr="/home/claude/icons/globe_navy.png">    </p:cNvPr>
          <p:cNvPicPr>
            <a:picLocks noChangeAspect="1"/>
          </p:cNvPicPr>
          <p:nvPr/>
        </p:nvPicPr>
        <p:blipFill>
          <a:blip r:embed="rId7"/>
          <a:stretch>
            <a:fillRect/>
          </a:stretch>
        </p:blipFill>
        <p:spPr>
          <a:xfrm>
            <a:off x="7203643" y="4570171"/>
            <a:ext cx="460858" cy="460858"/>
          </a:xfrm>
          <a:prstGeom prst="rect">
            <a:avLst/>
          </a:prstGeom>
        </p:spPr>
      </p:pic>
      <p:sp>
        <p:nvSpPr>
          <p:cNvPr id="37" name="Text 28"/>
          <p:cNvSpPr/>
          <p:nvPr/>
        </p:nvSpPr>
        <p:spPr>
          <a:xfrm>
            <a:off x="6300216" y="5349240"/>
            <a:ext cx="2267712" cy="457200"/>
          </a:xfrm>
          <a:prstGeom prst="rect">
            <a:avLst/>
          </a:prstGeom>
          <a:noFill/>
          <a:ln/>
        </p:spPr>
        <p:txBody>
          <a:bodyPr wrap="square" lIns="0" tIns="0" rIns="0" bIns="0" rtlCol="0" anchor="ctr"/>
          <a:lstStyle/>
          <a:p>
            <a:pPr algn="ctr" indent="0" marL="0">
              <a:buNone/>
            </a:pPr>
            <a:r>
              <a:rPr lang="en-US" sz="1350" b="1" dirty="0">
                <a:solidFill>
                  <a:srgbClr val="1B2456"/>
                </a:solidFill>
                <a:latin typeface="Calibri" pitchFamily="34" charset="0"/>
                <a:ea typeface="Calibri" pitchFamily="34" charset="-122"/>
                <a:cs typeface="Calibri" pitchFamily="34" charset="-120"/>
              </a:rPr>
              <a:t>NAT</a:t>
            </a:r>
            <a:endParaRPr lang="en-US" sz="1350" dirty="0"/>
          </a:p>
        </p:txBody>
      </p:sp>
      <p:sp>
        <p:nvSpPr>
          <p:cNvPr id="38" name="Text 29"/>
          <p:cNvSpPr/>
          <p:nvPr/>
        </p:nvSpPr>
        <p:spPr>
          <a:xfrm>
            <a:off x="6300216" y="5779008"/>
            <a:ext cx="2267712" cy="45720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Internet access</a:t>
            </a:r>
            <a:endParaRPr lang="en-US" sz="1050" dirty="0"/>
          </a:p>
        </p:txBody>
      </p:sp>
      <p:sp>
        <p:nvSpPr>
          <p:cNvPr id="39" name="Shape 30"/>
          <p:cNvSpPr/>
          <p:nvPr/>
        </p:nvSpPr>
        <p:spPr>
          <a:xfrm>
            <a:off x="8924544" y="4206240"/>
            <a:ext cx="2542032" cy="2148840"/>
          </a:xfrm>
          <a:prstGeom prst="roundRect">
            <a:avLst>
              <a:gd name="adj" fmla="val 3404"/>
            </a:avLst>
          </a:prstGeom>
          <a:solidFill>
            <a:srgbClr val="EEF1FA"/>
          </a:solidFill>
          <a:ln/>
        </p:spPr>
      </p:sp>
      <p:sp>
        <p:nvSpPr>
          <p:cNvPr id="40" name="Shape 31"/>
          <p:cNvSpPr/>
          <p:nvPr/>
        </p:nvSpPr>
        <p:spPr>
          <a:xfrm>
            <a:off x="9875520" y="4480560"/>
            <a:ext cx="640080" cy="640080"/>
          </a:xfrm>
          <a:prstGeom prst="ellipse">
            <a:avLst/>
          </a:prstGeom>
          <a:solidFill>
            <a:srgbClr val="FFFFFF"/>
          </a:solidFill>
          <a:ln/>
        </p:spPr>
      </p:sp>
      <p:pic>
        <p:nvPicPr>
          <p:cNvPr id="41" name="Image 7" descr="/home/claude/icons/code_navy.png">    </p:cNvPr>
          <p:cNvPicPr>
            <a:picLocks noChangeAspect="1"/>
          </p:cNvPicPr>
          <p:nvPr/>
        </p:nvPicPr>
        <p:blipFill>
          <a:blip r:embed="rId8"/>
          <a:stretch>
            <a:fillRect/>
          </a:stretch>
        </p:blipFill>
        <p:spPr>
          <a:xfrm>
            <a:off x="9965131" y="4570171"/>
            <a:ext cx="460858" cy="460858"/>
          </a:xfrm>
          <a:prstGeom prst="rect">
            <a:avLst/>
          </a:prstGeom>
        </p:spPr>
      </p:pic>
      <p:sp>
        <p:nvSpPr>
          <p:cNvPr id="42" name="Text 32"/>
          <p:cNvSpPr/>
          <p:nvPr/>
        </p:nvSpPr>
        <p:spPr>
          <a:xfrm>
            <a:off x="9061704" y="5349240"/>
            <a:ext cx="2267712" cy="457200"/>
          </a:xfrm>
          <a:prstGeom prst="rect">
            <a:avLst/>
          </a:prstGeom>
          <a:noFill/>
          <a:ln/>
        </p:spPr>
        <p:txBody>
          <a:bodyPr wrap="square" lIns="0" tIns="0" rIns="0" bIns="0" rtlCol="0" anchor="ctr"/>
          <a:lstStyle/>
          <a:p>
            <a:pPr algn="ctr" indent="0" marL="0">
              <a:buNone/>
            </a:pPr>
            <a:r>
              <a:rPr lang="en-US" sz="1350" b="1" dirty="0">
                <a:solidFill>
                  <a:srgbClr val="1B2456"/>
                </a:solidFill>
                <a:latin typeface="Calibri" pitchFamily="34" charset="0"/>
                <a:ea typeface="Calibri" pitchFamily="34" charset="-122"/>
                <a:cs typeface="Calibri" pitchFamily="34" charset="-120"/>
              </a:rPr>
              <a:t>Python</a:t>
            </a:r>
            <a:endParaRPr lang="en-US" sz="1350" dirty="0"/>
          </a:p>
        </p:txBody>
      </p:sp>
      <p:sp>
        <p:nvSpPr>
          <p:cNvPr id="43" name="Text 33"/>
          <p:cNvSpPr/>
          <p:nvPr/>
        </p:nvSpPr>
        <p:spPr>
          <a:xfrm>
            <a:off x="9061704" y="5779008"/>
            <a:ext cx="2267712" cy="45720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Fault-diagnosis tool</a:t>
            </a:r>
            <a:endParaRPr lang="en-US" sz="1050" dirty="0"/>
          </a:p>
        </p:txBody>
      </p:sp>
      <p:sp>
        <p:nvSpPr>
          <p:cNvPr id="44" name="Text 34"/>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9AA3B5"/>
                </a:solidFill>
                <a:latin typeface="Calibri" pitchFamily="34" charset="0"/>
                <a:ea typeface="Calibri" pitchFamily="34" charset="-122"/>
                <a:cs typeface="Calibri" pitchFamily="34" charset="-120"/>
              </a:rPr>
              <a:t>Cisco Networking Academy Internship  •  Yadav Hitesh Shravan</a:t>
            </a:r>
            <a:endParaRPr lang="en-US" sz="900" dirty="0"/>
          </a:p>
        </p:txBody>
      </p:sp>
      <p:sp>
        <p:nvSpPr>
          <p:cNvPr id="45" name="Text 35"/>
          <p:cNvSpPr/>
          <p:nvPr/>
        </p:nvSpPr>
        <p:spPr>
          <a:xfrm>
            <a:off x="11430000" y="6537960"/>
            <a:ext cx="548640" cy="274320"/>
          </a:xfrm>
          <a:prstGeom prst="rect">
            <a:avLst/>
          </a:prstGeom>
          <a:noFill/>
          <a:ln/>
        </p:spPr>
        <p:txBody>
          <a:bodyPr wrap="square" lIns="0" tIns="0" rIns="0" bIns="0" rtlCol="0" anchor="ctr"/>
          <a:lstStyle/>
          <a:p>
            <a:pPr algn="r" indent="0" marL="0">
              <a:buNone/>
            </a:pPr>
            <a:r>
              <a:rPr lang="en-US" sz="900" dirty="0">
                <a:solidFill>
                  <a:srgbClr val="9AA3B5"/>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B41"/>
        </a:solidFill>
      </p:bgPr>
    </p:bg>
    <p:spTree>
      <p:nvGrpSpPr>
        <p:cNvPr id="1" name=""/>
        <p:cNvGrpSpPr/>
        <p:nvPr/>
      </p:nvGrpSpPr>
      <p:grpSpPr>
        <a:xfrm>
          <a:off x="0" y="0"/>
          <a:ext cx="0" cy="0"/>
          <a:chOff x="0" y="0"/>
          <a:chExt cx="0" cy="0"/>
        </a:xfrm>
      </p:grpSpPr>
      <p:sp>
        <p:nvSpPr>
          <p:cNvPr id="2" name="Text 0"/>
          <p:cNvSpPr/>
          <p:nvPr/>
        </p:nvSpPr>
        <p:spPr>
          <a:xfrm>
            <a:off x="640080" y="502920"/>
            <a:ext cx="9144000" cy="320040"/>
          </a:xfrm>
          <a:prstGeom prst="rect">
            <a:avLst/>
          </a:prstGeom>
          <a:noFill/>
          <a:ln/>
        </p:spPr>
        <p:txBody>
          <a:bodyPr wrap="square" lIns="0" tIns="0" rIns="0" bIns="0" rtlCol="0" anchor="ctr"/>
          <a:lstStyle/>
          <a:p>
            <a:pPr indent="0" marL="0">
              <a:buNone/>
            </a:pPr>
            <a:r>
              <a:rPr lang="en-US" sz="1200" b="1" spc="200" kern="0" dirty="0">
                <a:solidFill>
                  <a:srgbClr val="F0A93A"/>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640080" y="822960"/>
            <a:ext cx="1088136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From Learning Modules to Applied Network</a:t>
            </a:r>
            <a:endParaRPr lang="en-US" sz="3200" dirty="0"/>
          </a:p>
        </p:txBody>
      </p:sp>
      <p:sp>
        <p:nvSpPr>
          <p:cNvPr id="4" name="Shape 2"/>
          <p:cNvSpPr/>
          <p:nvPr/>
        </p:nvSpPr>
        <p:spPr>
          <a:xfrm>
            <a:off x="640080" y="1783080"/>
            <a:ext cx="10881360" cy="658368"/>
          </a:xfrm>
          <a:prstGeom prst="roundRect">
            <a:avLst>
              <a:gd name="adj" fmla="val 8333"/>
            </a:avLst>
          </a:prstGeom>
          <a:solidFill>
            <a:srgbClr val="1E2761"/>
          </a:solidFill>
          <a:ln/>
        </p:spPr>
      </p:sp>
      <p:sp>
        <p:nvSpPr>
          <p:cNvPr id="5" name="Shape 3"/>
          <p:cNvSpPr/>
          <p:nvPr/>
        </p:nvSpPr>
        <p:spPr>
          <a:xfrm>
            <a:off x="868680" y="1883664"/>
            <a:ext cx="457200" cy="457200"/>
          </a:xfrm>
          <a:prstGeom prst="ellipse">
            <a:avLst/>
          </a:prstGeom>
          <a:solidFill>
            <a:srgbClr val="2A3568"/>
          </a:solidFill>
          <a:ln/>
        </p:spPr>
      </p:sp>
      <p:pic>
        <p:nvPicPr>
          <p:cNvPr id="6" name="Image 0" descr="/home/claude/icons/cap_white.png">    </p:cNvPr>
          <p:cNvPicPr>
            <a:picLocks noChangeAspect="1"/>
          </p:cNvPicPr>
          <p:nvPr/>
        </p:nvPicPr>
        <p:blipFill>
          <a:blip r:embed="rId1"/>
          <a:stretch>
            <a:fillRect/>
          </a:stretch>
        </p:blipFill>
        <p:spPr>
          <a:xfrm>
            <a:off x="932688" y="1947672"/>
            <a:ext cx="329184" cy="329184"/>
          </a:xfrm>
          <a:prstGeom prst="rect">
            <a:avLst/>
          </a:prstGeom>
        </p:spPr>
      </p:pic>
      <p:sp>
        <p:nvSpPr>
          <p:cNvPr id="7" name="Text 4"/>
          <p:cNvSpPr/>
          <p:nvPr/>
        </p:nvSpPr>
        <p:spPr>
          <a:xfrm>
            <a:off x="1554480" y="1783080"/>
            <a:ext cx="2377440"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Learning Layer</a:t>
            </a:r>
            <a:endParaRPr lang="en-US" sz="1400" dirty="0"/>
          </a:p>
        </p:txBody>
      </p:sp>
      <p:sp>
        <p:nvSpPr>
          <p:cNvPr id="8" name="Text 5"/>
          <p:cNvSpPr/>
          <p:nvPr/>
        </p:nvSpPr>
        <p:spPr>
          <a:xfrm>
            <a:off x="4023360" y="1783080"/>
            <a:ext cx="7223760" cy="658368"/>
          </a:xfrm>
          <a:prstGeom prst="rect">
            <a:avLst/>
          </a:prstGeom>
          <a:noFill/>
          <a:ln/>
        </p:spPr>
        <p:txBody>
          <a:bodyPr wrap="square" lIns="0" tIns="0" rIns="0" bIns="0" rtlCol="0" anchor="ctr"/>
          <a:lstStyle/>
          <a:p>
            <a:pPr indent="0" marL="0">
              <a:buNone/>
            </a:pPr>
            <a:r>
              <a:rPr lang="en-US" sz="1250" dirty="0">
                <a:solidFill>
                  <a:srgbClr val="C7D0E8"/>
                </a:solidFill>
                <a:latin typeface="Calibri" pitchFamily="34" charset="0"/>
                <a:ea typeface="Calibri" pitchFamily="34" charset="-122"/>
                <a:cs typeface="Calibri" pitchFamily="34" charset="-120"/>
              </a:rPr>
              <a:t>Cisco NetAcad modules — Packet Tracer basics, exploration, and essentials</a:t>
            </a:r>
            <a:endParaRPr lang="en-US" sz="1250" dirty="0"/>
          </a:p>
        </p:txBody>
      </p:sp>
      <p:sp>
        <p:nvSpPr>
          <p:cNvPr id="9" name="Text 6"/>
          <p:cNvSpPr/>
          <p:nvPr/>
        </p:nvSpPr>
        <p:spPr>
          <a:xfrm>
            <a:off x="868680" y="2441448"/>
            <a:ext cx="457200" cy="109728"/>
          </a:xfrm>
          <a:prstGeom prst="rect">
            <a:avLst/>
          </a:prstGeom>
          <a:noFill/>
          <a:ln/>
        </p:spPr>
        <p:txBody>
          <a:bodyPr wrap="square" lIns="0" tIns="0" rIns="0" bIns="0" rtlCol="0" anchor="ctr"/>
          <a:lstStyle/>
          <a:p>
            <a:pPr algn="ctr" indent="0" marL="0">
              <a:buNone/>
            </a:pPr>
            <a:r>
              <a:rPr lang="en-US" sz="1200" dirty="0">
                <a:solidFill>
                  <a:srgbClr val="F0A93A"/>
                </a:solidFill>
              </a:rPr>
              <a:t>↓</a:t>
            </a:r>
            <a:endParaRPr lang="en-US" sz="1200" dirty="0"/>
          </a:p>
        </p:txBody>
      </p:sp>
      <p:sp>
        <p:nvSpPr>
          <p:cNvPr id="10" name="Shape 7"/>
          <p:cNvSpPr/>
          <p:nvPr/>
        </p:nvSpPr>
        <p:spPr>
          <a:xfrm>
            <a:off x="640080" y="2551176"/>
            <a:ext cx="10881360" cy="658368"/>
          </a:xfrm>
          <a:prstGeom prst="roundRect">
            <a:avLst>
              <a:gd name="adj" fmla="val 8333"/>
            </a:avLst>
          </a:prstGeom>
          <a:solidFill>
            <a:srgbClr val="1E2761"/>
          </a:solidFill>
          <a:ln/>
        </p:spPr>
      </p:sp>
      <p:sp>
        <p:nvSpPr>
          <p:cNvPr id="11" name="Shape 8"/>
          <p:cNvSpPr/>
          <p:nvPr/>
        </p:nvSpPr>
        <p:spPr>
          <a:xfrm>
            <a:off x="868680" y="2651760"/>
            <a:ext cx="457200" cy="457200"/>
          </a:xfrm>
          <a:prstGeom prst="ellipse">
            <a:avLst/>
          </a:prstGeom>
          <a:solidFill>
            <a:srgbClr val="2A3568"/>
          </a:solidFill>
          <a:ln/>
        </p:spPr>
      </p:sp>
      <p:pic>
        <p:nvPicPr>
          <p:cNvPr id="12" name="Image 1" descr="/home/claude/icons/desktop_white.png">    </p:cNvPr>
          <p:cNvPicPr>
            <a:picLocks noChangeAspect="1"/>
          </p:cNvPicPr>
          <p:nvPr/>
        </p:nvPicPr>
        <p:blipFill>
          <a:blip r:embed="rId2"/>
          <a:stretch>
            <a:fillRect/>
          </a:stretch>
        </p:blipFill>
        <p:spPr>
          <a:xfrm>
            <a:off x="932688" y="2715768"/>
            <a:ext cx="329184" cy="329184"/>
          </a:xfrm>
          <a:prstGeom prst="rect">
            <a:avLst/>
          </a:prstGeom>
        </p:spPr>
      </p:pic>
      <p:sp>
        <p:nvSpPr>
          <p:cNvPr id="13" name="Text 9"/>
          <p:cNvSpPr/>
          <p:nvPr/>
        </p:nvSpPr>
        <p:spPr>
          <a:xfrm>
            <a:off x="1554480" y="2551176"/>
            <a:ext cx="2377440"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Simulation Layer</a:t>
            </a:r>
            <a:endParaRPr lang="en-US" sz="1400" dirty="0"/>
          </a:p>
        </p:txBody>
      </p:sp>
      <p:sp>
        <p:nvSpPr>
          <p:cNvPr id="14" name="Text 10"/>
          <p:cNvSpPr/>
          <p:nvPr/>
        </p:nvSpPr>
        <p:spPr>
          <a:xfrm>
            <a:off x="4023360" y="2551176"/>
            <a:ext cx="7223760" cy="658368"/>
          </a:xfrm>
          <a:prstGeom prst="rect">
            <a:avLst/>
          </a:prstGeom>
          <a:noFill/>
          <a:ln/>
        </p:spPr>
        <p:txBody>
          <a:bodyPr wrap="square" lIns="0" tIns="0" rIns="0" bIns="0" rtlCol="0" anchor="ctr"/>
          <a:lstStyle/>
          <a:p>
            <a:pPr indent="0" marL="0">
              <a:buNone/>
            </a:pPr>
            <a:r>
              <a:rPr lang="en-US" sz="1250" dirty="0">
                <a:solidFill>
                  <a:srgbClr val="C7D0E8"/>
                </a:solidFill>
                <a:latin typeface="Calibri" pitchFamily="34" charset="0"/>
                <a:ea typeface="Calibri" pitchFamily="34" charset="-122"/>
                <a:cs typeface="Calibri" pitchFamily="34" charset="-120"/>
              </a:rPr>
              <a:t>Topology built and configured directly in Cisco Packet Tracer</a:t>
            </a:r>
            <a:endParaRPr lang="en-US" sz="1250" dirty="0"/>
          </a:p>
        </p:txBody>
      </p:sp>
      <p:sp>
        <p:nvSpPr>
          <p:cNvPr id="15" name="Text 11"/>
          <p:cNvSpPr/>
          <p:nvPr/>
        </p:nvSpPr>
        <p:spPr>
          <a:xfrm>
            <a:off x="868680" y="3209544"/>
            <a:ext cx="457200" cy="109728"/>
          </a:xfrm>
          <a:prstGeom prst="rect">
            <a:avLst/>
          </a:prstGeom>
          <a:noFill/>
          <a:ln/>
        </p:spPr>
        <p:txBody>
          <a:bodyPr wrap="square" lIns="0" tIns="0" rIns="0" bIns="0" rtlCol="0" anchor="ctr"/>
          <a:lstStyle/>
          <a:p>
            <a:pPr algn="ctr" indent="0" marL="0">
              <a:buNone/>
            </a:pPr>
            <a:r>
              <a:rPr lang="en-US" sz="1200" dirty="0">
                <a:solidFill>
                  <a:srgbClr val="F0A93A"/>
                </a:solidFill>
              </a:rPr>
              <a:t>↓</a:t>
            </a:r>
            <a:endParaRPr lang="en-US" sz="1200" dirty="0"/>
          </a:p>
        </p:txBody>
      </p:sp>
      <p:sp>
        <p:nvSpPr>
          <p:cNvPr id="16" name="Shape 12"/>
          <p:cNvSpPr/>
          <p:nvPr/>
        </p:nvSpPr>
        <p:spPr>
          <a:xfrm>
            <a:off x="640080" y="3319272"/>
            <a:ext cx="10881360" cy="658368"/>
          </a:xfrm>
          <a:prstGeom prst="roundRect">
            <a:avLst>
              <a:gd name="adj" fmla="val 8333"/>
            </a:avLst>
          </a:prstGeom>
          <a:solidFill>
            <a:srgbClr val="1E2761"/>
          </a:solidFill>
          <a:ln/>
        </p:spPr>
      </p:sp>
      <p:sp>
        <p:nvSpPr>
          <p:cNvPr id="17" name="Shape 13"/>
          <p:cNvSpPr/>
          <p:nvPr/>
        </p:nvSpPr>
        <p:spPr>
          <a:xfrm>
            <a:off x="868680" y="3419856"/>
            <a:ext cx="457200" cy="457200"/>
          </a:xfrm>
          <a:prstGeom prst="ellipse">
            <a:avLst/>
          </a:prstGeom>
          <a:solidFill>
            <a:srgbClr val="2A3568"/>
          </a:solidFill>
          <a:ln/>
        </p:spPr>
      </p:sp>
      <p:pic>
        <p:nvPicPr>
          <p:cNvPr id="18" name="Image 2" descr="/home/claude/icons/sitemap_white.png">    </p:cNvPr>
          <p:cNvPicPr>
            <a:picLocks noChangeAspect="1"/>
          </p:cNvPicPr>
          <p:nvPr/>
        </p:nvPicPr>
        <p:blipFill>
          <a:blip r:embed="rId3"/>
          <a:stretch>
            <a:fillRect/>
          </a:stretch>
        </p:blipFill>
        <p:spPr>
          <a:xfrm>
            <a:off x="932688" y="3483864"/>
            <a:ext cx="329184" cy="329184"/>
          </a:xfrm>
          <a:prstGeom prst="rect">
            <a:avLst/>
          </a:prstGeom>
        </p:spPr>
      </p:pic>
      <p:sp>
        <p:nvSpPr>
          <p:cNvPr id="19" name="Text 14"/>
          <p:cNvSpPr/>
          <p:nvPr/>
        </p:nvSpPr>
        <p:spPr>
          <a:xfrm>
            <a:off x="1554480" y="3319272"/>
            <a:ext cx="2377440"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Design Layer</a:t>
            </a:r>
            <a:endParaRPr lang="en-US" sz="1400" dirty="0"/>
          </a:p>
        </p:txBody>
      </p:sp>
      <p:sp>
        <p:nvSpPr>
          <p:cNvPr id="20" name="Text 15"/>
          <p:cNvSpPr/>
          <p:nvPr/>
        </p:nvSpPr>
        <p:spPr>
          <a:xfrm>
            <a:off x="4023360" y="3319272"/>
            <a:ext cx="7223760" cy="658368"/>
          </a:xfrm>
          <a:prstGeom prst="rect">
            <a:avLst/>
          </a:prstGeom>
          <a:noFill/>
          <a:ln/>
        </p:spPr>
        <p:txBody>
          <a:bodyPr wrap="square" lIns="0" tIns="0" rIns="0" bIns="0" rtlCol="0" anchor="ctr"/>
          <a:lstStyle/>
          <a:p>
            <a:pPr indent="0" marL="0">
              <a:buNone/>
            </a:pPr>
            <a:r>
              <a:rPr lang="en-US" sz="1250" dirty="0">
                <a:solidFill>
                  <a:srgbClr val="C7D0E8"/>
                </a:solidFill>
                <a:latin typeface="Calibri" pitchFamily="34" charset="0"/>
                <a:ea typeface="Calibri" pitchFamily="34" charset="-122"/>
                <a:cs typeface="Calibri" pitchFamily="34" charset="-120"/>
              </a:rPr>
              <a:t>VLAN structure, IP addressing and inter-VLAN routing plan</a:t>
            </a:r>
            <a:endParaRPr lang="en-US" sz="1250" dirty="0"/>
          </a:p>
        </p:txBody>
      </p:sp>
      <p:sp>
        <p:nvSpPr>
          <p:cNvPr id="21" name="Text 16"/>
          <p:cNvSpPr/>
          <p:nvPr/>
        </p:nvSpPr>
        <p:spPr>
          <a:xfrm>
            <a:off x="868680" y="3977640"/>
            <a:ext cx="457200" cy="109728"/>
          </a:xfrm>
          <a:prstGeom prst="rect">
            <a:avLst/>
          </a:prstGeom>
          <a:noFill/>
          <a:ln/>
        </p:spPr>
        <p:txBody>
          <a:bodyPr wrap="square" lIns="0" tIns="0" rIns="0" bIns="0" rtlCol="0" anchor="ctr"/>
          <a:lstStyle/>
          <a:p>
            <a:pPr algn="ctr" indent="0" marL="0">
              <a:buNone/>
            </a:pPr>
            <a:r>
              <a:rPr lang="en-US" sz="1200" dirty="0">
                <a:solidFill>
                  <a:srgbClr val="F0A93A"/>
                </a:solidFill>
              </a:rPr>
              <a:t>↓</a:t>
            </a:r>
            <a:endParaRPr lang="en-US" sz="1200" dirty="0"/>
          </a:p>
        </p:txBody>
      </p:sp>
      <p:sp>
        <p:nvSpPr>
          <p:cNvPr id="22" name="Shape 17"/>
          <p:cNvSpPr/>
          <p:nvPr/>
        </p:nvSpPr>
        <p:spPr>
          <a:xfrm>
            <a:off x="640080" y="4087368"/>
            <a:ext cx="10881360" cy="658368"/>
          </a:xfrm>
          <a:prstGeom prst="roundRect">
            <a:avLst>
              <a:gd name="adj" fmla="val 8333"/>
            </a:avLst>
          </a:prstGeom>
          <a:solidFill>
            <a:srgbClr val="1E2761"/>
          </a:solidFill>
          <a:ln/>
        </p:spPr>
      </p:sp>
      <p:sp>
        <p:nvSpPr>
          <p:cNvPr id="23" name="Shape 18"/>
          <p:cNvSpPr/>
          <p:nvPr/>
        </p:nvSpPr>
        <p:spPr>
          <a:xfrm>
            <a:off x="868680" y="4187952"/>
            <a:ext cx="457200" cy="457200"/>
          </a:xfrm>
          <a:prstGeom prst="ellipse">
            <a:avLst/>
          </a:prstGeom>
          <a:solidFill>
            <a:srgbClr val="2A3568"/>
          </a:solidFill>
          <a:ln/>
        </p:spPr>
      </p:sp>
      <p:pic>
        <p:nvPicPr>
          <p:cNvPr id="24" name="Image 3" descr="/home/claude/icons/lock_white.png">    </p:cNvPr>
          <p:cNvPicPr>
            <a:picLocks noChangeAspect="1"/>
          </p:cNvPicPr>
          <p:nvPr/>
        </p:nvPicPr>
        <p:blipFill>
          <a:blip r:embed="rId4"/>
          <a:stretch>
            <a:fillRect/>
          </a:stretch>
        </p:blipFill>
        <p:spPr>
          <a:xfrm>
            <a:off x="932688" y="4251960"/>
            <a:ext cx="329184" cy="329184"/>
          </a:xfrm>
          <a:prstGeom prst="rect">
            <a:avLst/>
          </a:prstGeom>
        </p:spPr>
      </p:pic>
      <p:sp>
        <p:nvSpPr>
          <p:cNvPr id="25" name="Text 19"/>
          <p:cNvSpPr/>
          <p:nvPr/>
        </p:nvSpPr>
        <p:spPr>
          <a:xfrm>
            <a:off x="1554480" y="4087368"/>
            <a:ext cx="2377440"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Security Layer</a:t>
            </a:r>
            <a:endParaRPr lang="en-US" sz="1400" dirty="0"/>
          </a:p>
        </p:txBody>
      </p:sp>
      <p:sp>
        <p:nvSpPr>
          <p:cNvPr id="26" name="Text 20"/>
          <p:cNvSpPr/>
          <p:nvPr/>
        </p:nvSpPr>
        <p:spPr>
          <a:xfrm>
            <a:off x="4023360" y="4087368"/>
            <a:ext cx="7223760" cy="658368"/>
          </a:xfrm>
          <a:prstGeom prst="rect">
            <a:avLst/>
          </a:prstGeom>
          <a:noFill/>
          <a:ln/>
        </p:spPr>
        <p:txBody>
          <a:bodyPr wrap="square" lIns="0" tIns="0" rIns="0" bIns="0" rtlCol="0" anchor="ctr"/>
          <a:lstStyle/>
          <a:p>
            <a:pPr indent="0" marL="0">
              <a:buNone/>
            </a:pPr>
            <a:r>
              <a:rPr lang="en-US" sz="1250" dirty="0">
                <a:solidFill>
                  <a:srgbClr val="C7D0E8"/>
                </a:solidFill>
                <a:latin typeface="Calibri" pitchFamily="34" charset="0"/>
                <a:ea typeface="Calibri" pitchFamily="34" charset="-122"/>
                <a:cs typeface="Calibri" pitchFamily="34" charset="-120"/>
              </a:rPr>
              <a:t>ACLs and NAT filter and translate traffic between segments</a:t>
            </a:r>
            <a:endParaRPr lang="en-US" sz="1250" dirty="0"/>
          </a:p>
        </p:txBody>
      </p:sp>
      <p:sp>
        <p:nvSpPr>
          <p:cNvPr id="27" name="Text 21"/>
          <p:cNvSpPr/>
          <p:nvPr/>
        </p:nvSpPr>
        <p:spPr>
          <a:xfrm>
            <a:off x="868680" y="4745736"/>
            <a:ext cx="457200" cy="109728"/>
          </a:xfrm>
          <a:prstGeom prst="rect">
            <a:avLst/>
          </a:prstGeom>
          <a:noFill/>
          <a:ln/>
        </p:spPr>
        <p:txBody>
          <a:bodyPr wrap="square" lIns="0" tIns="0" rIns="0" bIns="0" rtlCol="0" anchor="ctr"/>
          <a:lstStyle/>
          <a:p>
            <a:pPr algn="ctr" indent="0" marL="0">
              <a:buNone/>
            </a:pPr>
            <a:r>
              <a:rPr lang="en-US" sz="1200" dirty="0">
                <a:solidFill>
                  <a:srgbClr val="F0A93A"/>
                </a:solidFill>
              </a:rPr>
              <a:t>↓</a:t>
            </a:r>
            <a:endParaRPr lang="en-US" sz="1200" dirty="0"/>
          </a:p>
        </p:txBody>
      </p:sp>
      <p:sp>
        <p:nvSpPr>
          <p:cNvPr id="28" name="Shape 22"/>
          <p:cNvSpPr/>
          <p:nvPr/>
        </p:nvSpPr>
        <p:spPr>
          <a:xfrm>
            <a:off x="640080" y="4855464"/>
            <a:ext cx="10881360" cy="658368"/>
          </a:xfrm>
          <a:prstGeom prst="roundRect">
            <a:avLst>
              <a:gd name="adj" fmla="val 8333"/>
            </a:avLst>
          </a:prstGeom>
          <a:solidFill>
            <a:srgbClr val="1E2761"/>
          </a:solidFill>
          <a:ln/>
        </p:spPr>
      </p:sp>
      <p:sp>
        <p:nvSpPr>
          <p:cNvPr id="29" name="Shape 23"/>
          <p:cNvSpPr/>
          <p:nvPr/>
        </p:nvSpPr>
        <p:spPr>
          <a:xfrm>
            <a:off x="868680" y="4956048"/>
            <a:ext cx="457200" cy="457200"/>
          </a:xfrm>
          <a:prstGeom prst="ellipse">
            <a:avLst/>
          </a:prstGeom>
          <a:solidFill>
            <a:srgbClr val="2A3568"/>
          </a:solidFill>
          <a:ln/>
        </p:spPr>
      </p:sp>
      <p:pic>
        <p:nvPicPr>
          <p:cNvPr id="30" name="Image 4" descr="/home/claude/icons/checkcircle_white.png">    </p:cNvPr>
          <p:cNvPicPr>
            <a:picLocks noChangeAspect="1"/>
          </p:cNvPicPr>
          <p:nvPr/>
        </p:nvPicPr>
        <p:blipFill>
          <a:blip r:embed="rId5"/>
          <a:stretch>
            <a:fillRect/>
          </a:stretch>
        </p:blipFill>
        <p:spPr>
          <a:xfrm>
            <a:off x="932688" y="5020056"/>
            <a:ext cx="329184" cy="329184"/>
          </a:xfrm>
          <a:prstGeom prst="rect">
            <a:avLst/>
          </a:prstGeom>
        </p:spPr>
      </p:pic>
      <p:sp>
        <p:nvSpPr>
          <p:cNvPr id="31" name="Text 24"/>
          <p:cNvSpPr/>
          <p:nvPr/>
        </p:nvSpPr>
        <p:spPr>
          <a:xfrm>
            <a:off x="1554480" y="4855464"/>
            <a:ext cx="2377440"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Validation Layer</a:t>
            </a:r>
            <a:endParaRPr lang="en-US" sz="1400" dirty="0"/>
          </a:p>
        </p:txBody>
      </p:sp>
      <p:sp>
        <p:nvSpPr>
          <p:cNvPr id="32" name="Text 25"/>
          <p:cNvSpPr/>
          <p:nvPr/>
        </p:nvSpPr>
        <p:spPr>
          <a:xfrm>
            <a:off x="4023360" y="4855464"/>
            <a:ext cx="7223760" cy="658368"/>
          </a:xfrm>
          <a:prstGeom prst="rect">
            <a:avLst/>
          </a:prstGeom>
          <a:noFill/>
          <a:ln/>
        </p:spPr>
        <p:txBody>
          <a:bodyPr wrap="square" lIns="0" tIns="0" rIns="0" bIns="0" rtlCol="0" anchor="ctr"/>
          <a:lstStyle/>
          <a:p>
            <a:pPr indent="0" marL="0">
              <a:buNone/>
            </a:pPr>
            <a:r>
              <a:rPr lang="en-US" sz="1250" dirty="0">
                <a:solidFill>
                  <a:srgbClr val="C7D0E8"/>
                </a:solidFill>
                <a:latin typeface="Calibri" pitchFamily="34" charset="0"/>
                <a:ea typeface="Calibri" pitchFamily="34" charset="-122"/>
                <a:cs typeface="Calibri" pitchFamily="34" charset="-120"/>
              </a:rPr>
              <a:t>Faults injected and diagnosed to verify the design works</a:t>
            </a:r>
            <a:endParaRPr lang="en-US" sz="1250" dirty="0"/>
          </a:p>
        </p:txBody>
      </p:sp>
      <p:sp>
        <p:nvSpPr>
          <p:cNvPr id="33" name="Text 26"/>
          <p:cNvSpPr/>
          <p:nvPr/>
        </p:nvSpPr>
        <p:spPr>
          <a:xfrm>
            <a:off x="868680" y="5513832"/>
            <a:ext cx="457200" cy="109728"/>
          </a:xfrm>
          <a:prstGeom prst="rect">
            <a:avLst/>
          </a:prstGeom>
          <a:noFill/>
          <a:ln/>
        </p:spPr>
        <p:txBody>
          <a:bodyPr wrap="square" lIns="0" tIns="0" rIns="0" bIns="0" rtlCol="0" anchor="ctr"/>
          <a:lstStyle/>
          <a:p>
            <a:pPr algn="ctr" indent="0" marL="0">
              <a:buNone/>
            </a:pPr>
            <a:r>
              <a:rPr lang="en-US" sz="1200" dirty="0">
                <a:solidFill>
                  <a:srgbClr val="F0A93A"/>
                </a:solidFill>
              </a:rPr>
              <a:t>↓</a:t>
            </a:r>
            <a:endParaRPr lang="en-US" sz="1200" dirty="0"/>
          </a:p>
        </p:txBody>
      </p:sp>
      <p:sp>
        <p:nvSpPr>
          <p:cNvPr id="34" name="Shape 27"/>
          <p:cNvSpPr/>
          <p:nvPr/>
        </p:nvSpPr>
        <p:spPr>
          <a:xfrm>
            <a:off x="640080" y="5623560"/>
            <a:ext cx="10881360" cy="658368"/>
          </a:xfrm>
          <a:prstGeom prst="roundRect">
            <a:avLst>
              <a:gd name="adj" fmla="val 8333"/>
            </a:avLst>
          </a:prstGeom>
          <a:solidFill>
            <a:srgbClr val="1E2761"/>
          </a:solidFill>
          <a:ln/>
        </p:spPr>
      </p:sp>
      <p:sp>
        <p:nvSpPr>
          <p:cNvPr id="35" name="Shape 28"/>
          <p:cNvSpPr/>
          <p:nvPr/>
        </p:nvSpPr>
        <p:spPr>
          <a:xfrm>
            <a:off x="868680" y="5724144"/>
            <a:ext cx="457200" cy="457200"/>
          </a:xfrm>
          <a:prstGeom prst="ellipse">
            <a:avLst/>
          </a:prstGeom>
          <a:solidFill>
            <a:srgbClr val="2A3568"/>
          </a:solidFill>
          <a:ln/>
        </p:spPr>
      </p:sp>
      <p:pic>
        <p:nvPicPr>
          <p:cNvPr id="36" name="Image 5" descr="/home/claude/icons/mobilealt_white.png">    </p:cNvPr>
          <p:cNvPicPr>
            <a:picLocks noChangeAspect="1"/>
          </p:cNvPicPr>
          <p:nvPr/>
        </p:nvPicPr>
        <p:blipFill>
          <a:blip r:embed="rId6"/>
          <a:stretch>
            <a:fillRect/>
          </a:stretch>
        </p:blipFill>
        <p:spPr>
          <a:xfrm>
            <a:off x="932688" y="5788152"/>
            <a:ext cx="329184" cy="329184"/>
          </a:xfrm>
          <a:prstGeom prst="rect">
            <a:avLst/>
          </a:prstGeom>
        </p:spPr>
      </p:pic>
      <p:sp>
        <p:nvSpPr>
          <p:cNvPr id="37" name="Text 29"/>
          <p:cNvSpPr/>
          <p:nvPr/>
        </p:nvSpPr>
        <p:spPr>
          <a:xfrm>
            <a:off x="1554480" y="5623560"/>
            <a:ext cx="2377440" cy="65836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Applied Layer</a:t>
            </a:r>
            <a:endParaRPr lang="en-US" sz="1400" dirty="0"/>
          </a:p>
        </p:txBody>
      </p:sp>
      <p:sp>
        <p:nvSpPr>
          <p:cNvPr id="38" name="Text 30"/>
          <p:cNvSpPr/>
          <p:nvPr/>
        </p:nvSpPr>
        <p:spPr>
          <a:xfrm>
            <a:off x="4023360" y="5623560"/>
            <a:ext cx="7223760" cy="658368"/>
          </a:xfrm>
          <a:prstGeom prst="rect">
            <a:avLst/>
          </a:prstGeom>
          <a:noFill/>
          <a:ln/>
        </p:spPr>
        <p:txBody>
          <a:bodyPr wrap="square" lIns="0" tIns="0" rIns="0" bIns="0" rtlCol="0" anchor="ctr"/>
          <a:lstStyle/>
          <a:p>
            <a:pPr indent="0" marL="0">
              <a:buNone/>
            </a:pPr>
            <a:r>
              <a:rPr lang="en-US" sz="1250" dirty="0">
                <a:solidFill>
                  <a:srgbClr val="C7D0E8"/>
                </a:solidFill>
                <a:latin typeface="Calibri" pitchFamily="34" charset="0"/>
                <a:ea typeface="Calibri" pitchFamily="34" charset="-122"/>
                <a:cs typeface="Calibri" pitchFamily="34" charset="-120"/>
              </a:rPr>
              <a:t>Python tool matches symptoms to fixes, reinforcing troubleshooting</a:t>
            </a:r>
            <a:endParaRPr lang="en-US" sz="1250" dirty="0"/>
          </a:p>
        </p:txBody>
      </p:sp>
      <p:sp>
        <p:nvSpPr>
          <p:cNvPr id="39" name="Text 31"/>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891C2"/>
                </a:solidFill>
                <a:latin typeface="Calibri" pitchFamily="34" charset="0"/>
                <a:ea typeface="Calibri" pitchFamily="34" charset="-122"/>
                <a:cs typeface="Calibri" pitchFamily="34" charset="-120"/>
              </a:rPr>
              <a:t>Cisco Networking Academy Internship  •  Yadav Hitesh Shravan</a:t>
            </a:r>
            <a:endParaRPr lang="en-US" sz="900" dirty="0"/>
          </a:p>
        </p:txBody>
      </p:sp>
      <p:sp>
        <p:nvSpPr>
          <p:cNvPr id="40" name="Text 32"/>
          <p:cNvSpPr/>
          <p:nvPr/>
        </p:nvSpPr>
        <p:spPr>
          <a:xfrm>
            <a:off x="11430000" y="6537960"/>
            <a:ext cx="548640" cy="274320"/>
          </a:xfrm>
          <a:prstGeom prst="rect">
            <a:avLst/>
          </a:prstGeom>
          <a:noFill/>
          <a:ln/>
        </p:spPr>
        <p:txBody>
          <a:bodyPr wrap="square" lIns="0" tIns="0" rIns="0" bIns="0" rtlCol="0" anchor="ctr"/>
          <a:lstStyle/>
          <a:p>
            <a:pPr algn="r" indent="0" marL="0">
              <a:buNone/>
            </a:pPr>
            <a:r>
              <a:rPr lang="en-US" sz="900" dirty="0">
                <a:solidFill>
                  <a:srgbClr val="8891C2"/>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A"/>
        </a:solidFill>
      </p:bgPr>
    </p:bg>
    <p:spTree>
      <p:nvGrpSpPr>
        <p:cNvPr id="1" name=""/>
        <p:cNvGrpSpPr/>
        <p:nvPr/>
      </p:nvGrpSpPr>
      <p:grpSpPr>
        <a:xfrm>
          <a:off x="0" y="0"/>
          <a:ext cx="0" cy="0"/>
          <a:chOff x="0" y="0"/>
          <a:chExt cx="0" cy="0"/>
        </a:xfrm>
      </p:grpSpPr>
      <p:sp>
        <p:nvSpPr>
          <p:cNvPr id="2" name="Text 0"/>
          <p:cNvSpPr/>
          <p:nvPr/>
        </p:nvSpPr>
        <p:spPr>
          <a:xfrm>
            <a:off x="640080" y="502920"/>
            <a:ext cx="9144000" cy="320040"/>
          </a:xfrm>
          <a:prstGeom prst="rect">
            <a:avLst/>
          </a:prstGeom>
          <a:noFill/>
          <a:ln/>
        </p:spPr>
        <p:txBody>
          <a:bodyPr wrap="square" lIns="0" tIns="0" rIns="0" bIns="0" rtlCol="0" anchor="ctr"/>
          <a:lstStyle/>
          <a:p>
            <a:pPr indent="0" marL="0">
              <a:buNone/>
            </a:pPr>
            <a:r>
              <a:rPr lang="en-US" sz="1200" b="1" spc="200" kern="0" dirty="0">
                <a:solidFill>
                  <a:srgbClr val="F0A93A"/>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640080" y="822960"/>
            <a:ext cx="10881360" cy="822960"/>
          </a:xfrm>
          <a:prstGeom prst="rect">
            <a:avLst/>
          </a:prstGeom>
          <a:noFill/>
          <a:ln/>
        </p:spPr>
        <p:txBody>
          <a:bodyPr wrap="square" lIns="0" tIns="0" rIns="0" bIns="0" rtlCol="0" anchor="ctr"/>
          <a:lstStyle/>
          <a:p>
            <a:pPr indent="0" marL="0">
              <a:buNone/>
            </a:pPr>
            <a:r>
              <a:rPr lang="en-US" sz="3200" b="1" dirty="0">
                <a:solidFill>
                  <a:srgbClr val="1B2456"/>
                </a:solidFill>
                <a:latin typeface="Cambria" pitchFamily="34" charset="0"/>
                <a:ea typeface="Cambria" pitchFamily="34" charset="-122"/>
                <a:cs typeface="Cambria" pitchFamily="34" charset="-120"/>
              </a:rPr>
              <a:t>The Learning-to-Application Journey</a:t>
            </a:r>
            <a:endParaRPr lang="en-US" sz="3200" dirty="0"/>
          </a:p>
        </p:txBody>
      </p:sp>
      <p:sp>
        <p:nvSpPr>
          <p:cNvPr id="4" name="Shape 2"/>
          <p:cNvSpPr/>
          <p:nvPr/>
        </p:nvSpPr>
        <p:spPr>
          <a:xfrm>
            <a:off x="640080" y="1828800"/>
            <a:ext cx="2606040" cy="3749040"/>
          </a:xfrm>
          <a:prstGeom prst="roundRect">
            <a:avLst>
              <a:gd name="adj" fmla="val 2807"/>
            </a:avLst>
          </a:prstGeom>
          <a:solidFill>
            <a:srgbClr val="FFFFFF"/>
          </a:solidFill>
          <a:ln/>
          <a:effectLst>
            <a:outerShdw sx="100000" sy="100000" kx="0" ky="0" algn="bl" rotWithShape="0" blurRad="76200" dist="25400" dir="5400000">
              <a:srgbClr val="9AA3B5">
                <a:alpha val="20000"/>
              </a:srgbClr>
            </a:outerShdw>
          </a:effectLst>
        </p:spPr>
      </p:sp>
      <p:sp>
        <p:nvSpPr>
          <p:cNvPr id="5" name="Shape 3"/>
          <p:cNvSpPr/>
          <p:nvPr/>
        </p:nvSpPr>
        <p:spPr>
          <a:xfrm>
            <a:off x="868680" y="2057400"/>
            <a:ext cx="502920" cy="502920"/>
          </a:xfrm>
          <a:prstGeom prst="ellipse">
            <a:avLst/>
          </a:prstGeom>
          <a:solidFill>
            <a:srgbClr val="1E2761"/>
          </a:solidFill>
          <a:ln/>
        </p:spPr>
      </p:sp>
      <p:sp>
        <p:nvSpPr>
          <p:cNvPr id="6" name="Text 4"/>
          <p:cNvSpPr/>
          <p:nvPr/>
        </p:nvSpPr>
        <p:spPr>
          <a:xfrm>
            <a:off x="8686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508760" y="2121408"/>
            <a:ext cx="1600200" cy="274320"/>
          </a:xfrm>
          <a:prstGeom prst="rect">
            <a:avLst/>
          </a:prstGeom>
          <a:noFill/>
          <a:ln/>
        </p:spPr>
        <p:txBody>
          <a:bodyPr wrap="square" lIns="0" tIns="0" rIns="0" bIns="0" rtlCol="0" anchor="ctr"/>
          <a:lstStyle/>
          <a:p>
            <a:pPr indent="0" marL="0">
              <a:buNone/>
            </a:pPr>
            <a:r>
              <a:rPr lang="en-US" sz="1000" b="1" spc="100" kern="0" dirty="0">
                <a:solidFill>
                  <a:srgbClr val="F0A93A"/>
                </a:solidFill>
                <a:latin typeface="Calibri" pitchFamily="34" charset="0"/>
                <a:ea typeface="Calibri" pitchFamily="34" charset="-122"/>
                <a:cs typeface="Calibri" pitchFamily="34" charset="-120"/>
              </a:rPr>
              <a:t>MODULE</a:t>
            </a:r>
            <a:endParaRPr lang="en-US" sz="1000" dirty="0"/>
          </a:p>
        </p:txBody>
      </p:sp>
      <p:sp>
        <p:nvSpPr>
          <p:cNvPr id="8" name="Text 6"/>
          <p:cNvSpPr/>
          <p:nvPr/>
        </p:nvSpPr>
        <p:spPr>
          <a:xfrm>
            <a:off x="868680" y="2743200"/>
            <a:ext cx="2148840" cy="1097280"/>
          </a:xfrm>
          <a:prstGeom prst="rect">
            <a:avLst/>
          </a:prstGeom>
          <a:noFill/>
          <a:ln/>
        </p:spPr>
        <p:txBody>
          <a:bodyPr wrap="square" lIns="0" tIns="0" rIns="0" bIns="0" rtlCol="0" anchor="ctr"/>
          <a:lstStyle/>
          <a:p>
            <a:pPr indent="0" marL="0">
              <a:lnSpc>
                <a:spcPct val="110000"/>
              </a:lnSpc>
              <a:buNone/>
            </a:pPr>
            <a:r>
              <a:rPr lang="en-US" sz="1350" b="1" dirty="0">
                <a:solidFill>
                  <a:srgbClr val="1B2456"/>
                </a:solidFill>
                <a:latin typeface="Calibri" pitchFamily="34" charset="0"/>
                <a:ea typeface="Calibri" pitchFamily="34" charset="-122"/>
                <a:cs typeface="Calibri" pitchFamily="34" charset="-120"/>
              </a:rPr>
              <a:t>Getting Started with Cisco Packet Tracer</a:t>
            </a:r>
            <a:endParaRPr lang="en-US" sz="1350" dirty="0"/>
          </a:p>
        </p:txBody>
      </p:sp>
      <p:sp>
        <p:nvSpPr>
          <p:cNvPr id="9" name="Text 7"/>
          <p:cNvSpPr/>
          <p:nvPr/>
        </p:nvSpPr>
        <p:spPr>
          <a:xfrm>
            <a:off x="868680" y="3886200"/>
            <a:ext cx="2148840" cy="123444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Calibri" pitchFamily="34" charset="0"/>
                <a:ea typeface="Calibri" pitchFamily="34" charset="-122"/>
                <a:cs typeface="Calibri" pitchFamily="34" charset="-120"/>
              </a:rPr>
              <a:t>Interface, device palette, and basic simulation workflow</a:t>
            </a:r>
            <a:endParaRPr lang="en-US" sz="1100" dirty="0"/>
          </a:p>
        </p:txBody>
      </p:sp>
      <p:sp>
        <p:nvSpPr>
          <p:cNvPr id="10" name="Text 8"/>
          <p:cNvSpPr/>
          <p:nvPr/>
        </p:nvSpPr>
        <p:spPr>
          <a:xfrm>
            <a:off x="868680" y="5120640"/>
            <a:ext cx="2148840" cy="32004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16 Jun 2026</a:t>
            </a:r>
            <a:endParaRPr lang="en-US" sz="1050" dirty="0"/>
          </a:p>
        </p:txBody>
      </p:sp>
      <p:sp>
        <p:nvSpPr>
          <p:cNvPr id="11" name="Shape 9"/>
          <p:cNvSpPr/>
          <p:nvPr/>
        </p:nvSpPr>
        <p:spPr>
          <a:xfrm>
            <a:off x="3465576" y="1828800"/>
            <a:ext cx="2606040" cy="3749040"/>
          </a:xfrm>
          <a:prstGeom prst="roundRect">
            <a:avLst>
              <a:gd name="adj" fmla="val 2807"/>
            </a:avLst>
          </a:prstGeom>
          <a:solidFill>
            <a:srgbClr val="FFFFFF"/>
          </a:solidFill>
          <a:ln/>
          <a:effectLst>
            <a:outerShdw sx="100000" sy="100000" kx="0" ky="0" algn="bl" rotWithShape="0" blurRad="76200" dist="25400" dir="5400000">
              <a:srgbClr val="9AA3B5">
                <a:alpha val="20000"/>
              </a:srgbClr>
            </a:outerShdw>
          </a:effectLst>
        </p:spPr>
      </p:sp>
      <p:sp>
        <p:nvSpPr>
          <p:cNvPr id="12" name="Shape 10"/>
          <p:cNvSpPr/>
          <p:nvPr/>
        </p:nvSpPr>
        <p:spPr>
          <a:xfrm>
            <a:off x="3694176" y="2057400"/>
            <a:ext cx="502920" cy="502920"/>
          </a:xfrm>
          <a:prstGeom prst="ellipse">
            <a:avLst/>
          </a:prstGeom>
          <a:solidFill>
            <a:srgbClr val="1E2761"/>
          </a:solidFill>
          <a:ln/>
        </p:spPr>
      </p:sp>
      <p:sp>
        <p:nvSpPr>
          <p:cNvPr id="13" name="Text 11"/>
          <p:cNvSpPr/>
          <p:nvPr/>
        </p:nvSpPr>
        <p:spPr>
          <a:xfrm>
            <a:off x="3694176"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4334256" y="2121408"/>
            <a:ext cx="1600200" cy="274320"/>
          </a:xfrm>
          <a:prstGeom prst="rect">
            <a:avLst/>
          </a:prstGeom>
          <a:noFill/>
          <a:ln/>
        </p:spPr>
        <p:txBody>
          <a:bodyPr wrap="square" lIns="0" tIns="0" rIns="0" bIns="0" rtlCol="0" anchor="ctr"/>
          <a:lstStyle/>
          <a:p>
            <a:pPr indent="0" marL="0">
              <a:buNone/>
            </a:pPr>
            <a:r>
              <a:rPr lang="en-US" sz="1000" b="1" spc="100" kern="0" dirty="0">
                <a:solidFill>
                  <a:srgbClr val="F0A93A"/>
                </a:solidFill>
                <a:latin typeface="Calibri" pitchFamily="34" charset="0"/>
                <a:ea typeface="Calibri" pitchFamily="34" charset="-122"/>
                <a:cs typeface="Calibri" pitchFamily="34" charset="-120"/>
              </a:rPr>
              <a:t>MODULE</a:t>
            </a:r>
            <a:endParaRPr lang="en-US" sz="1000" dirty="0"/>
          </a:p>
        </p:txBody>
      </p:sp>
      <p:sp>
        <p:nvSpPr>
          <p:cNvPr id="15" name="Text 13"/>
          <p:cNvSpPr/>
          <p:nvPr/>
        </p:nvSpPr>
        <p:spPr>
          <a:xfrm>
            <a:off x="3694176" y="2743200"/>
            <a:ext cx="2148840" cy="1097280"/>
          </a:xfrm>
          <a:prstGeom prst="rect">
            <a:avLst/>
          </a:prstGeom>
          <a:noFill/>
          <a:ln/>
        </p:spPr>
        <p:txBody>
          <a:bodyPr wrap="square" lIns="0" tIns="0" rIns="0" bIns="0" rtlCol="0" anchor="ctr"/>
          <a:lstStyle/>
          <a:p>
            <a:pPr indent="0" marL="0">
              <a:lnSpc>
                <a:spcPct val="110000"/>
              </a:lnSpc>
              <a:buNone/>
            </a:pPr>
            <a:r>
              <a:rPr lang="en-US" sz="1350" b="1" dirty="0">
                <a:solidFill>
                  <a:srgbClr val="1B2456"/>
                </a:solidFill>
                <a:latin typeface="Calibri" pitchFamily="34" charset="0"/>
                <a:ea typeface="Calibri" pitchFamily="34" charset="-122"/>
                <a:cs typeface="Calibri" pitchFamily="34" charset="-120"/>
              </a:rPr>
              <a:t>Exploring Networking with Cisco Packet Tracer</a:t>
            </a:r>
            <a:endParaRPr lang="en-US" sz="1350" dirty="0"/>
          </a:p>
        </p:txBody>
      </p:sp>
      <p:sp>
        <p:nvSpPr>
          <p:cNvPr id="16" name="Text 14"/>
          <p:cNvSpPr/>
          <p:nvPr/>
        </p:nvSpPr>
        <p:spPr>
          <a:xfrm>
            <a:off x="3694176" y="3886200"/>
            <a:ext cx="2148840" cy="123444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Calibri" pitchFamily="34" charset="0"/>
                <a:ea typeface="Calibri" pitchFamily="34" charset="-122"/>
                <a:cs typeface="Calibri" pitchFamily="34" charset="-120"/>
              </a:rPr>
              <a:t>Building and connecting devices to explore networking behaviour</a:t>
            </a:r>
            <a:endParaRPr lang="en-US" sz="1100" dirty="0"/>
          </a:p>
        </p:txBody>
      </p:sp>
      <p:sp>
        <p:nvSpPr>
          <p:cNvPr id="17" name="Text 15"/>
          <p:cNvSpPr/>
          <p:nvPr/>
        </p:nvSpPr>
        <p:spPr>
          <a:xfrm>
            <a:off x="3694176" y="5120640"/>
            <a:ext cx="2148840" cy="32004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16 Jun 2026</a:t>
            </a:r>
            <a:endParaRPr lang="en-US" sz="1050" dirty="0"/>
          </a:p>
        </p:txBody>
      </p:sp>
      <p:sp>
        <p:nvSpPr>
          <p:cNvPr id="18" name="Shape 16"/>
          <p:cNvSpPr/>
          <p:nvPr/>
        </p:nvSpPr>
        <p:spPr>
          <a:xfrm>
            <a:off x="6291072" y="1828800"/>
            <a:ext cx="2606040" cy="3749040"/>
          </a:xfrm>
          <a:prstGeom prst="roundRect">
            <a:avLst>
              <a:gd name="adj" fmla="val 2807"/>
            </a:avLst>
          </a:prstGeom>
          <a:solidFill>
            <a:srgbClr val="FFFFFF"/>
          </a:solidFill>
          <a:ln/>
          <a:effectLst>
            <a:outerShdw sx="100000" sy="100000" kx="0" ky="0" algn="bl" rotWithShape="0" blurRad="76200" dist="25400" dir="5400000">
              <a:srgbClr val="9AA3B5">
                <a:alpha val="20000"/>
              </a:srgbClr>
            </a:outerShdw>
          </a:effectLst>
        </p:spPr>
      </p:sp>
      <p:sp>
        <p:nvSpPr>
          <p:cNvPr id="19" name="Shape 17"/>
          <p:cNvSpPr/>
          <p:nvPr/>
        </p:nvSpPr>
        <p:spPr>
          <a:xfrm>
            <a:off x="6519672" y="2057400"/>
            <a:ext cx="502920" cy="502920"/>
          </a:xfrm>
          <a:prstGeom prst="ellipse">
            <a:avLst/>
          </a:prstGeom>
          <a:solidFill>
            <a:srgbClr val="1E2761"/>
          </a:solidFill>
          <a:ln/>
        </p:spPr>
      </p:sp>
      <p:sp>
        <p:nvSpPr>
          <p:cNvPr id="20" name="Text 18"/>
          <p:cNvSpPr/>
          <p:nvPr/>
        </p:nvSpPr>
        <p:spPr>
          <a:xfrm>
            <a:off x="6519672"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Text 19"/>
          <p:cNvSpPr/>
          <p:nvPr/>
        </p:nvSpPr>
        <p:spPr>
          <a:xfrm>
            <a:off x="7159752" y="2121408"/>
            <a:ext cx="1600200" cy="274320"/>
          </a:xfrm>
          <a:prstGeom prst="rect">
            <a:avLst/>
          </a:prstGeom>
          <a:noFill/>
          <a:ln/>
        </p:spPr>
        <p:txBody>
          <a:bodyPr wrap="square" lIns="0" tIns="0" rIns="0" bIns="0" rtlCol="0" anchor="ctr"/>
          <a:lstStyle/>
          <a:p>
            <a:pPr indent="0" marL="0">
              <a:buNone/>
            </a:pPr>
            <a:r>
              <a:rPr lang="en-US" sz="1000" b="1" spc="100" kern="0" dirty="0">
                <a:solidFill>
                  <a:srgbClr val="F0A93A"/>
                </a:solidFill>
                <a:latin typeface="Calibri" pitchFamily="34" charset="0"/>
                <a:ea typeface="Calibri" pitchFamily="34" charset="-122"/>
                <a:cs typeface="Calibri" pitchFamily="34" charset="-120"/>
              </a:rPr>
              <a:t>MODULE</a:t>
            </a:r>
            <a:endParaRPr lang="en-US" sz="1000" dirty="0"/>
          </a:p>
        </p:txBody>
      </p:sp>
      <p:sp>
        <p:nvSpPr>
          <p:cNvPr id="22" name="Text 20"/>
          <p:cNvSpPr/>
          <p:nvPr/>
        </p:nvSpPr>
        <p:spPr>
          <a:xfrm>
            <a:off x="6519672" y="2743200"/>
            <a:ext cx="2148840" cy="1097280"/>
          </a:xfrm>
          <a:prstGeom prst="rect">
            <a:avLst/>
          </a:prstGeom>
          <a:noFill/>
          <a:ln/>
        </p:spPr>
        <p:txBody>
          <a:bodyPr wrap="square" lIns="0" tIns="0" rIns="0" bIns="0" rtlCol="0" anchor="ctr"/>
          <a:lstStyle/>
          <a:p>
            <a:pPr indent="0" marL="0">
              <a:lnSpc>
                <a:spcPct val="110000"/>
              </a:lnSpc>
              <a:buNone/>
            </a:pPr>
            <a:r>
              <a:rPr lang="en-US" sz="1350" b="1" dirty="0">
                <a:solidFill>
                  <a:srgbClr val="1B2456"/>
                </a:solidFill>
                <a:latin typeface="Calibri" pitchFamily="34" charset="0"/>
                <a:ea typeface="Calibri" pitchFamily="34" charset="-122"/>
                <a:cs typeface="Calibri" pitchFamily="34" charset="-120"/>
              </a:rPr>
              <a:t>Networking Essentials</a:t>
            </a:r>
            <a:endParaRPr lang="en-US" sz="1350" dirty="0"/>
          </a:p>
        </p:txBody>
      </p:sp>
      <p:sp>
        <p:nvSpPr>
          <p:cNvPr id="23" name="Text 21"/>
          <p:cNvSpPr/>
          <p:nvPr/>
        </p:nvSpPr>
        <p:spPr>
          <a:xfrm>
            <a:off x="6519672" y="3886200"/>
            <a:ext cx="2148840" cy="123444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Calibri" pitchFamily="34" charset="0"/>
                <a:ea typeface="Calibri" pitchFamily="34" charset="-122"/>
                <a:cs typeface="Calibri" pitchFamily="34" charset="-120"/>
              </a:rPr>
              <a:t>Core fundamentals — addressing, subnetting, switching, routing</a:t>
            </a:r>
            <a:endParaRPr lang="en-US" sz="1100" dirty="0"/>
          </a:p>
        </p:txBody>
      </p:sp>
      <p:sp>
        <p:nvSpPr>
          <p:cNvPr id="24" name="Text 22"/>
          <p:cNvSpPr/>
          <p:nvPr/>
        </p:nvSpPr>
        <p:spPr>
          <a:xfrm>
            <a:off x="6519672" y="5120640"/>
            <a:ext cx="2148840" cy="32004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20 Jun 2026</a:t>
            </a:r>
            <a:endParaRPr lang="en-US" sz="1050" dirty="0"/>
          </a:p>
        </p:txBody>
      </p:sp>
      <p:sp>
        <p:nvSpPr>
          <p:cNvPr id="25" name="Shape 23"/>
          <p:cNvSpPr/>
          <p:nvPr/>
        </p:nvSpPr>
        <p:spPr>
          <a:xfrm>
            <a:off x="9116568" y="1828800"/>
            <a:ext cx="2606040" cy="3749040"/>
          </a:xfrm>
          <a:prstGeom prst="roundRect">
            <a:avLst>
              <a:gd name="adj" fmla="val 2807"/>
            </a:avLst>
          </a:prstGeom>
          <a:solidFill>
            <a:srgbClr val="FFFFFF"/>
          </a:solidFill>
          <a:ln/>
          <a:effectLst>
            <a:outerShdw sx="100000" sy="100000" kx="0" ky="0" algn="bl" rotWithShape="0" blurRad="76200" dist="25400" dir="5400000">
              <a:srgbClr val="9AA3B5">
                <a:alpha val="20000"/>
              </a:srgbClr>
            </a:outerShdw>
          </a:effectLst>
        </p:spPr>
      </p:sp>
      <p:sp>
        <p:nvSpPr>
          <p:cNvPr id="26" name="Shape 24"/>
          <p:cNvSpPr/>
          <p:nvPr/>
        </p:nvSpPr>
        <p:spPr>
          <a:xfrm>
            <a:off x="9345168" y="2057400"/>
            <a:ext cx="502920" cy="502920"/>
          </a:xfrm>
          <a:prstGeom prst="ellipse">
            <a:avLst/>
          </a:prstGeom>
          <a:solidFill>
            <a:srgbClr val="1E2761"/>
          </a:solidFill>
          <a:ln/>
        </p:spPr>
      </p:sp>
      <p:sp>
        <p:nvSpPr>
          <p:cNvPr id="27" name="Text 25"/>
          <p:cNvSpPr/>
          <p:nvPr/>
        </p:nvSpPr>
        <p:spPr>
          <a:xfrm>
            <a:off x="9345168"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8" name="Text 26"/>
          <p:cNvSpPr/>
          <p:nvPr/>
        </p:nvSpPr>
        <p:spPr>
          <a:xfrm>
            <a:off x="9985248" y="2121408"/>
            <a:ext cx="1600200" cy="274320"/>
          </a:xfrm>
          <a:prstGeom prst="rect">
            <a:avLst/>
          </a:prstGeom>
          <a:noFill/>
          <a:ln/>
        </p:spPr>
        <p:txBody>
          <a:bodyPr wrap="square" lIns="0" tIns="0" rIns="0" bIns="0" rtlCol="0" anchor="ctr"/>
          <a:lstStyle/>
          <a:p>
            <a:pPr indent="0" marL="0">
              <a:buNone/>
            </a:pPr>
            <a:r>
              <a:rPr lang="en-US" sz="1000" b="1" spc="100" kern="0" dirty="0">
                <a:solidFill>
                  <a:srgbClr val="F0A93A"/>
                </a:solidFill>
                <a:latin typeface="Calibri" pitchFamily="34" charset="0"/>
                <a:ea typeface="Calibri" pitchFamily="34" charset="-122"/>
                <a:cs typeface="Calibri" pitchFamily="34" charset="-120"/>
              </a:rPr>
              <a:t>MODULE</a:t>
            </a:r>
            <a:endParaRPr lang="en-US" sz="1000" dirty="0"/>
          </a:p>
        </p:txBody>
      </p:sp>
      <p:sp>
        <p:nvSpPr>
          <p:cNvPr id="29" name="Text 27"/>
          <p:cNvSpPr/>
          <p:nvPr/>
        </p:nvSpPr>
        <p:spPr>
          <a:xfrm>
            <a:off x="9345168" y="2743200"/>
            <a:ext cx="2148840" cy="1097280"/>
          </a:xfrm>
          <a:prstGeom prst="rect">
            <a:avLst/>
          </a:prstGeom>
          <a:noFill/>
          <a:ln/>
        </p:spPr>
        <p:txBody>
          <a:bodyPr wrap="square" lIns="0" tIns="0" rIns="0" bIns="0" rtlCol="0" anchor="ctr"/>
          <a:lstStyle/>
          <a:p>
            <a:pPr indent="0" marL="0">
              <a:lnSpc>
                <a:spcPct val="110000"/>
              </a:lnSpc>
              <a:buNone/>
            </a:pPr>
            <a:r>
              <a:rPr lang="en-US" sz="1350" b="1" dirty="0">
                <a:solidFill>
                  <a:srgbClr val="1B2456"/>
                </a:solidFill>
                <a:latin typeface="Calibri" pitchFamily="34" charset="0"/>
                <a:ea typeface="Calibri" pitchFamily="34" charset="-122"/>
                <a:cs typeface="Calibri" pitchFamily="34" charset="-120"/>
              </a:rPr>
              <a:t>Applied Project — SmartBranch 360</a:t>
            </a:r>
            <a:endParaRPr lang="en-US" sz="1350" dirty="0"/>
          </a:p>
        </p:txBody>
      </p:sp>
      <p:sp>
        <p:nvSpPr>
          <p:cNvPr id="30" name="Text 28"/>
          <p:cNvSpPr/>
          <p:nvPr/>
        </p:nvSpPr>
        <p:spPr>
          <a:xfrm>
            <a:off x="9345168" y="3886200"/>
            <a:ext cx="2148840" cy="123444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Calibri" pitchFamily="34" charset="0"/>
                <a:ea typeface="Calibri" pitchFamily="34" charset="-122"/>
                <a:cs typeface="Calibri" pitchFamily="34" charset="-120"/>
              </a:rPr>
              <a:t>Branch-office network design, fault injection and Python diagnosis tool</a:t>
            </a:r>
            <a:endParaRPr lang="en-US" sz="1100" dirty="0"/>
          </a:p>
        </p:txBody>
      </p:sp>
      <p:sp>
        <p:nvSpPr>
          <p:cNvPr id="31" name="Text 29"/>
          <p:cNvSpPr/>
          <p:nvPr/>
        </p:nvSpPr>
        <p:spPr>
          <a:xfrm>
            <a:off x="9345168" y="5120640"/>
            <a:ext cx="2148840" cy="32004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Following completion</a:t>
            </a:r>
            <a:endParaRPr lang="en-US" sz="1050" dirty="0"/>
          </a:p>
        </p:txBody>
      </p:sp>
      <p:sp>
        <p:nvSpPr>
          <p:cNvPr id="32" name="Text 30"/>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9AA3B5"/>
                </a:solidFill>
                <a:latin typeface="Calibri" pitchFamily="34" charset="0"/>
                <a:ea typeface="Calibri" pitchFamily="34" charset="-122"/>
                <a:cs typeface="Calibri" pitchFamily="34" charset="-120"/>
              </a:rPr>
              <a:t>Cisco Networking Academy Internship  •  Yadav Hitesh Shravan</a:t>
            </a:r>
            <a:endParaRPr lang="en-US" sz="900" dirty="0"/>
          </a:p>
        </p:txBody>
      </p:sp>
      <p:sp>
        <p:nvSpPr>
          <p:cNvPr id="33" name="Text 31"/>
          <p:cNvSpPr/>
          <p:nvPr/>
        </p:nvSpPr>
        <p:spPr>
          <a:xfrm>
            <a:off x="11430000" y="6537960"/>
            <a:ext cx="548640" cy="274320"/>
          </a:xfrm>
          <a:prstGeom prst="rect">
            <a:avLst/>
          </a:prstGeom>
          <a:noFill/>
          <a:ln/>
        </p:spPr>
        <p:txBody>
          <a:bodyPr wrap="square" lIns="0" tIns="0" rIns="0" bIns="0" rtlCol="0" anchor="ctr"/>
          <a:lstStyle/>
          <a:p>
            <a:pPr algn="r" indent="0" marL="0">
              <a:buNone/>
            </a:pPr>
            <a:r>
              <a:rPr lang="en-US" sz="900" dirty="0">
                <a:solidFill>
                  <a:srgbClr val="9AA3B5"/>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320040"/>
          </a:xfrm>
          <a:prstGeom prst="rect">
            <a:avLst/>
          </a:prstGeom>
          <a:noFill/>
          <a:ln/>
        </p:spPr>
        <p:txBody>
          <a:bodyPr wrap="square" lIns="0" tIns="0" rIns="0" bIns="0" rtlCol="0" anchor="ctr"/>
          <a:lstStyle/>
          <a:p>
            <a:pPr indent="0" marL="0">
              <a:buNone/>
            </a:pPr>
            <a:r>
              <a:rPr lang="en-US" sz="1200" b="1" spc="200" kern="0" dirty="0">
                <a:solidFill>
                  <a:srgbClr val="F0A93A"/>
                </a:solidFill>
                <a:latin typeface="Calibri" pitchFamily="34" charset="0"/>
                <a:ea typeface="Calibri" pitchFamily="34" charset="-122"/>
                <a:cs typeface="Calibri" pitchFamily="34" charset="-120"/>
              </a:rPr>
              <a:t>EXPECTED OUTCOMES</a:t>
            </a:r>
            <a:endParaRPr lang="en-US" sz="1200" dirty="0"/>
          </a:p>
        </p:txBody>
      </p:sp>
      <p:sp>
        <p:nvSpPr>
          <p:cNvPr id="3" name="Text 1"/>
          <p:cNvSpPr/>
          <p:nvPr/>
        </p:nvSpPr>
        <p:spPr>
          <a:xfrm>
            <a:off x="640080" y="822960"/>
            <a:ext cx="10881360" cy="822960"/>
          </a:xfrm>
          <a:prstGeom prst="rect">
            <a:avLst/>
          </a:prstGeom>
          <a:noFill/>
          <a:ln/>
        </p:spPr>
        <p:txBody>
          <a:bodyPr wrap="square" lIns="0" tIns="0" rIns="0" bIns="0" rtlCol="0" anchor="ctr"/>
          <a:lstStyle/>
          <a:p>
            <a:pPr indent="0" marL="0">
              <a:buNone/>
            </a:pPr>
            <a:r>
              <a:rPr lang="en-US" sz="3200" b="1" dirty="0">
                <a:solidFill>
                  <a:srgbClr val="1B2456"/>
                </a:solidFill>
                <a:latin typeface="Cambria" pitchFamily="34" charset="0"/>
                <a:ea typeface="Cambria" pitchFamily="34" charset="-122"/>
                <a:cs typeface="Cambria" pitchFamily="34" charset="-120"/>
              </a:rPr>
              <a:t>Skills and Capabilities Gained</a:t>
            </a:r>
            <a:endParaRPr lang="en-US" sz="3200" dirty="0"/>
          </a:p>
        </p:txBody>
      </p:sp>
      <p:sp>
        <p:nvSpPr>
          <p:cNvPr id="4" name="Shape 2"/>
          <p:cNvSpPr/>
          <p:nvPr/>
        </p:nvSpPr>
        <p:spPr>
          <a:xfrm>
            <a:off x="640080" y="1874520"/>
            <a:ext cx="411480" cy="411480"/>
          </a:xfrm>
          <a:prstGeom prst="ellipse">
            <a:avLst/>
          </a:prstGeom>
          <a:solidFill>
            <a:srgbClr val="1E2761"/>
          </a:solidFill>
          <a:ln/>
        </p:spPr>
      </p:sp>
      <p:pic>
        <p:nvPicPr>
          <p:cNvPr id="5" name="Image 0" descr="/home/claude/icons/checkcircle_white.png">    </p:cNvPr>
          <p:cNvPicPr>
            <a:picLocks noChangeAspect="1"/>
          </p:cNvPicPr>
          <p:nvPr/>
        </p:nvPicPr>
        <p:blipFill>
          <a:blip r:embed="rId1"/>
          <a:stretch>
            <a:fillRect/>
          </a:stretch>
        </p:blipFill>
        <p:spPr>
          <a:xfrm>
            <a:off x="697687" y="1932127"/>
            <a:ext cx="296266" cy="296266"/>
          </a:xfrm>
          <a:prstGeom prst="rect">
            <a:avLst/>
          </a:prstGeom>
        </p:spPr>
      </p:pic>
      <p:sp>
        <p:nvSpPr>
          <p:cNvPr id="6" name="Text 3"/>
          <p:cNvSpPr/>
          <p:nvPr/>
        </p:nvSpPr>
        <p:spPr>
          <a:xfrm>
            <a:off x="1280160" y="1856232"/>
            <a:ext cx="10058400" cy="64008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Working familiarity with the Cisco Packet Tracer environment and simulation workflow</a:t>
            </a:r>
            <a:endParaRPr lang="en-US" sz="1450" dirty="0"/>
          </a:p>
        </p:txBody>
      </p:sp>
      <p:sp>
        <p:nvSpPr>
          <p:cNvPr id="7" name="Shape 4"/>
          <p:cNvSpPr/>
          <p:nvPr/>
        </p:nvSpPr>
        <p:spPr>
          <a:xfrm>
            <a:off x="640080" y="2587752"/>
            <a:ext cx="411480" cy="411480"/>
          </a:xfrm>
          <a:prstGeom prst="ellipse">
            <a:avLst/>
          </a:prstGeom>
          <a:solidFill>
            <a:srgbClr val="1E2761"/>
          </a:solidFill>
          <a:ln/>
        </p:spPr>
      </p:sp>
      <p:pic>
        <p:nvPicPr>
          <p:cNvPr id="8" name="Image 1" descr="/home/claude/icons/checkcircle_white.png">    </p:cNvPr>
          <p:cNvPicPr>
            <a:picLocks noChangeAspect="1"/>
          </p:cNvPicPr>
          <p:nvPr/>
        </p:nvPicPr>
        <p:blipFill>
          <a:blip r:embed="rId2"/>
          <a:stretch>
            <a:fillRect/>
          </a:stretch>
        </p:blipFill>
        <p:spPr>
          <a:xfrm>
            <a:off x="697687" y="2645359"/>
            <a:ext cx="296266" cy="296266"/>
          </a:xfrm>
          <a:prstGeom prst="rect">
            <a:avLst/>
          </a:prstGeom>
        </p:spPr>
      </p:pic>
      <p:sp>
        <p:nvSpPr>
          <p:cNvPr id="9" name="Text 5"/>
          <p:cNvSpPr/>
          <p:nvPr/>
        </p:nvSpPr>
        <p:spPr>
          <a:xfrm>
            <a:off x="1280160" y="2569464"/>
            <a:ext cx="10058400" cy="64008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Practical understanding of core networking essentials — addressing, subnetting, switching and routing</a:t>
            </a:r>
            <a:endParaRPr lang="en-US" sz="1450" dirty="0"/>
          </a:p>
        </p:txBody>
      </p:sp>
      <p:sp>
        <p:nvSpPr>
          <p:cNvPr id="10" name="Shape 6"/>
          <p:cNvSpPr/>
          <p:nvPr/>
        </p:nvSpPr>
        <p:spPr>
          <a:xfrm>
            <a:off x="640080" y="3300984"/>
            <a:ext cx="411480" cy="411480"/>
          </a:xfrm>
          <a:prstGeom prst="ellipse">
            <a:avLst/>
          </a:prstGeom>
          <a:solidFill>
            <a:srgbClr val="1E2761"/>
          </a:solidFill>
          <a:ln/>
        </p:spPr>
      </p:sp>
      <p:pic>
        <p:nvPicPr>
          <p:cNvPr id="11" name="Image 2" descr="/home/claude/icons/checkcircle_white.png">    </p:cNvPr>
          <p:cNvPicPr>
            <a:picLocks noChangeAspect="1"/>
          </p:cNvPicPr>
          <p:nvPr/>
        </p:nvPicPr>
        <p:blipFill>
          <a:blip r:embed="rId3"/>
          <a:stretch>
            <a:fillRect/>
          </a:stretch>
        </p:blipFill>
        <p:spPr>
          <a:xfrm>
            <a:off x="697687" y="3358591"/>
            <a:ext cx="296266" cy="296266"/>
          </a:xfrm>
          <a:prstGeom prst="rect">
            <a:avLst/>
          </a:prstGeom>
        </p:spPr>
      </p:pic>
      <p:sp>
        <p:nvSpPr>
          <p:cNvPr id="12" name="Text 7"/>
          <p:cNvSpPr/>
          <p:nvPr/>
        </p:nvSpPr>
        <p:spPr>
          <a:xfrm>
            <a:off x="1280160" y="3282696"/>
            <a:ext cx="10058400" cy="64008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Ability to design a segmented network using VLANs, inter-VLAN routing, DHCP, DNS, ACLs and NAT</a:t>
            </a:r>
            <a:endParaRPr lang="en-US" sz="1450" dirty="0"/>
          </a:p>
        </p:txBody>
      </p:sp>
      <p:sp>
        <p:nvSpPr>
          <p:cNvPr id="13" name="Shape 8"/>
          <p:cNvSpPr/>
          <p:nvPr/>
        </p:nvSpPr>
        <p:spPr>
          <a:xfrm>
            <a:off x="640080" y="4014216"/>
            <a:ext cx="411480" cy="411480"/>
          </a:xfrm>
          <a:prstGeom prst="ellipse">
            <a:avLst/>
          </a:prstGeom>
          <a:solidFill>
            <a:srgbClr val="1E2761"/>
          </a:solidFill>
          <a:ln/>
        </p:spPr>
      </p:sp>
      <p:pic>
        <p:nvPicPr>
          <p:cNvPr id="14" name="Image 3" descr="/home/claude/icons/checkcircle_white.png">    </p:cNvPr>
          <p:cNvPicPr>
            <a:picLocks noChangeAspect="1"/>
          </p:cNvPicPr>
          <p:nvPr/>
        </p:nvPicPr>
        <p:blipFill>
          <a:blip r:embed="rId4"/>
          <a:stretch>
            <a:fillRect/>
          </a:stretch>
        </p:blipFill>
        <p:spPr>
          <a:xfrm>
            <a:off x="697687" y="4071823"/>
            <a:ext cx="296266" cy="296266"/>
          </a:xfrm>
          <a:prstGeom prst="rect">
            <a:avLst/>
          </a:prstGeom>
        </p:spPr>
      </p:pic>
      <p:sp>
        <p:nvSpPr>
          <p:cNvPr id="15" name="Text 9"/>
          <p:cNvSpPr/>
          <p:nvPr/>
        </p:nvSpPr>
        <p:spPr>
          <a:xfrm>
            <a:off x="1280160" y="3995928"/>
            <a:ext cx="10058400" cy="64008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Hands-on experience diagnosing and fixing simulated network faults</a:t>
            </a:r>
            <a:endParaRPr lang="en-US" sz="1450" dirty="0"/>
          </a:p>
        </p:txBody>
      </p:sp>
      <p:sp>
        <p:nvSpPr>
          <p:cNvPr id="16" name="Shape 10"/>
          <p:cNvSpPr/>
          <p:nvPr/>
        </p:nvSpPr>
        <p:spPr>
          <a:xfrm>
            <a:off x="640080" y="4727448"/>
            <a:ext cx="411480" cy="411480"/>
          </a:xfrm>
          <a:prstGeom prst="ellipse">
            <a:avLst/>
          </a:prstGeom>
          <a:solidFill>
            <a:srgbClr val="1E2761"/>
          </a:solidFill>
          <a:ln/>
        </p:spPr>
      </p:sp>
      <p:pic>
        <p:nvPicPr>
          <p:cNvPr id="17" name="Image 4" descr="/home/claude/icons/checkcircle_white.png">    </p:cNvPr>
          <p:cNvPicPr>
            <a:picLocks noChangeAspect="1"/>
          </p:cNvPicPr>
          <p:nvPr/>
        </p:nvPicPr>
        <p:blipFill>
          <a:blip r:embed="rId5"/>
          <a:stretch>
            <a:fillRect/>
          </a:stretch>
        </p:blipFill>
        <p:spPr>
          <a:xfrm>
            <a:off x="697687" y="4785055"/>
            <a:ext cx="296266" cy="296266"/>
          </a:xfrm>
          <a:prstGeom prst="rect">
            <a:avLst/>
          </a:prstGeom>
        </p:spPr>
      </p:pic>
      <p:sp>
        <p:nvSpPr>
          <p:cNvPr id="18" name="Text 11"/>
          <p:cNvSpPr/>
          <p:nvPr/>
        </p:nvSpPr>
        <p:spPr>
          <a:xfrm>
            <a:off x="1280160" y="4709160"/>
            <a:ext cx="10058400" cy="64008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Skill to build a Python tool that matches symptoms to documented faults and fixes</a:t>
            </a:r>
            <a:endParaRPr lang="en-US" sz="1450" dirty="0"/>
          </a:p>
        </p:txBody>
      </p:sp>
      <p:sp>
        <p:nvSpPr>
          <p:cNvPr id="19" name="Shape 12"/>
          <p:cNvSpPr/>
          <p:nvPr/>
        </p:nvSpPr>
        <p:spPr>
          <a:xfrm>
            <a:off x="640080" y="5440680"/>
            <a:ext cx="411480" cy="411480"/>
          </a:xfrm>
          <a:prstGeom prst="ellipse">
            <a:avLst/>
          </a:prstGeom>
          <a:solidFill>
            <a:srgbClr val="1E2761"/>
          </a:solidFill>
          <a:ln/>
        </p:spPr>
      </p:sp>
      <p:pic>
        <p:nvPicPr>
          <p:cNvPr id="20" name="Image 5" descr="/home/claude/icons/checkcircle_white.png">    </p:cNvPr>
          <p:cNvPicPr>
            <a:picLocks noChangeAspect="1"/>
          </p:cNvPicPr>
          <p:nvPr/>
        </p:nvPicPr>
        <p:blipFill>
          <a:blip r:embed="rId6"/>
          <a:stretch>
            <a:fillRect/>
          </a:stretch>
        </p:blipFill>
        <p:spPr>
          <a:xfrm>
            <a:off x="697687" y="5498287"/>
            <a:ext cx="296266" cy="296266"/>
          </a:xfrm>
          <a:prstGeom prst="rect">
            <a:avLst/>
          </a:prstGeom>
        </p:spPr>
      </p:pic>
      <p:sp>
        <p:nvSpPr>
          <p:cNvPr id="21" name="Text 13"/>
          <p:cNvSpPr/>
          <p:nvPr/>
        </p:nvSpPr>
        <p:spPr>
          <a:xfrm>
            <a:off x="1280160" y="5422392"/>
            <a:ext cx="10058400" cy="64008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Three Cisco Networking Academy certificates of completion, issued by IILM University</a:t>
            </a:r>
            <a:endParaRPr lang="en-US" sz="1450" dirty="0"/>
          </a:p>
        </p:txBody>
      </p:sp>
      <p:sp>
        <p:nvSpPr>
          <p:cNvPr id="22" name="Text 14"/>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9AA3B5"/>
                </a:solidFill>
                <a:latin typeface="Calibri" pitchFamily="34" charset="0"/>
                <a:ea typeface="Calibri" pitchFamily="34" charset="-122"/>
                <a:cs typeface="Calibri" pitchFamily="34" charset="-120"/>
              </a:rPr>
              <a:t>Cisco Networking Academy Internship  •  Yadav Hitesh Shravan</a:t>
            </a:r>
            <a:endParaRPr lang="en-US" sz="900" dirty="0"/>
          </a:p>
        </p:txBody>
      </p:sp>
      <p:sp>
        <p:nvSpPr>
          <p:cNvPr id="23" name="Text 15"/>
          <p:cNvSpPr/>
          <p:nvPr/>
        </p:nvSpPr>
        <p:spPr>
          <a:xfrm>
            <a:off x="11430000" y="6537960"/>
            <a:ext cx="548640" cy="274320"/>
          </a:xfrm>
          <a:prstGeom prst="rect">
            <a:avLst/>
          </a:prstGeom>
          <a:noFill/>
          <a:ln/>
        </p:spPr>
        <p:txBody>
          <a:bodyPr wrap="square" lIns="0" tIns="0" rIns="0" bIns="0" rtlCol="0" anchor="ctr"/>
          <a:lstStyle/>
          <a:p>
            <a:pPr algn="r" indent="0" marL="0">
              <a:buNone/>
            </a:pPr>
            <a:r>
              <a:rPr lang="en-US" sz="900" dirty="0">
                <a:solidFill>
                  <a:srgbClr val="9AA3B5"/>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41"/>
        </a:solidFill>
      </p:bgPr>
    </p:bg>
    <p:spTree>
      <p:nvGrpSpPr>
        <p:cNvPr id="1" name=""/>
        <p:cNvGrpSpPr/>
        <p:nvPr/>
      </p:nvGrpSpPr>
      <p:grpSpPr>
        <a:xfrm>
          <a:off x="0" y="0"/>
          <a:ext cx="0" cy="0"/>
          <a:chOff x="0" y="0"/>
          <a:chExt cx="0" cy="0"/>
        </a:xfrm>
      </p:grpSpPr>
      <p:sp>
        <p:nvSpPr>
          <p:cNvPr id="2" name="Text 0"/>
          <p:cNvSpPr/>
          <p:nvPr/>
        </p:nvSpPr>
        <p:spPr>
          <a:xfrm>
            <a:off x="640080" y="502920"/>
            <a:ext cx="9144000" cy="320040"/>
          </a:xfrm>
          <a:prstGeom prst="rect">
            <a:avLst/>
          </a:prstGeom>
          <a:noFill/>
          <a:ln/>
        </p:spPr>
        <p:txBody>
          <a:bodyPr wrap="square" lIns="0" tIns="0" rIns="0" bIns="0" rtlCol="0" anchor="ctr"/>
          <a:lstStyle/>
          <a:p>
            <a:pPr indent="0" marL="0">
              <a:buNone/>
            </a:pPr>
            <a:r>
              <a:rPr lang="en-US" sz="1200" b="1" spc="200" kern="0" dirty="0">
                <a:solidFill>
                  <a:srgbClr val="F0A93A"/>
                </a:solidFill>
                <a:latin typeface="Calibri" pitchFamily="34" charset="0"/>
                <a:ea typeface="Calibri" pitchFamily="34" charset="-122"/>
                <a:cs typeface="Calibri" pitchFamily="34" charset="-120"/>
              </a:rPr>
              <a:t>CERTIFICATION</a:t>
            </a:r>
            <a:endParaRPr lang="en-US" sz="1200" dirty="0"/>
          </a:p>
        </p:txBody>
      </p:sp>
      <p:sp>
        <p:nvSpPr>
          <p:cNvPr id="3" name="Text 1"/>
          <p:cNvSpPr/>
          <p:nvPr/>
        </p:nvSpPr>
        <p:spPr>
          <a:xfrm>
            <a:off x="640080" y="822960"/>
            <a:ext cx="1088136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Certificates of Completion</a:t>
            </a:r>
            <a:endParaRPr lang="en-US" sz="3200" dirty="0"/>
          </a:p>
        </p:txBody>
      </p:sp>
      <p:sp>
        <p:nvSpPr>
          <p:cNvPr id="4" name="Shape 2"/>
          <p:cNvSpPr/>
          <p:nvPr/>
        </p:nvSpPr>
        <p:spPr>
          <a:xfrm>
            <a:off x="640080" y="1691640"/>
            <a:ext cx="3520440" cy="4434840"/>
          </a:xfrm>
          <a:prstGeom prst="roundRect">
            <a:avLst>
              <a:gd name="adj" fmla="val 1558"/>
            </a:avLst>
          </a:prstGeom>
          <a:solidFill>
            <a:srgbClr val="FFFFFF"/>
          </a:solidFill>
          <a:ln/>
        </p:spPr>
      </p:sp>
      <p:pic>
        <p:nvPicPr>
          <p:cNvPr id="5" name="Image 0" descr="/home/claude/certs/cert1-1.jpg">    </p:cNvPr>
          <p:cNvPicPr>
            <a:picLocks noChangeAspect="1"/>
          </p:cNvPicPr>
          <p:nvPr/>
        </p:nvPicPr>
        <p:blipFill>
          <a:blip r:embed="rId1"/>
          <a:stretch>
            <a:fillRect/>
          </a:stretch>
        </p:blipFill>
        <p:spPr>
          <a:xfrm>
            <a:off x="777240" y="1828800"/>
            <a:ext cx="3246120" cy="2199255"/>
          </a:xfrm>
          <a:prstGeom prst="rect">
            <a:avLst/>
          </a:prstGeom>
        </p:spPr>
      </p:pic>
      <p:sp>
        <p:nvSpPr>
          <p:cNvPr id="6" name="Text 3"/>
          <p:cNvSpPr/>
          <p:nvPr/>
        </p:nvSpPr>
        <p:spPr>
          <a:xfrm>
            <a:off x="822960" y="4160520"/>
            <a:ext cx="3154680" cy="685800"/>
          </a:xfrm>
          <a:prstGeom prst="rect">
            <a:avLst/>
          </a:prstGeom>
          <a:noFill/>
          <a:ln/>
        </p:spPr>
        <p:txBody>
          <a:bodyPr wrap="square" lIns="0" tIns="0" rIns="0" bIns="0" rtlCol="0" anchor="ctr"/>
          <a:lstStyle/>
          <a:p>
            <a:pPr indent="0" marL="0">
              <a:lnSpc>
                <a:spcPct val="110000"/>
              </a:lnSpc>
              <a:buNone/>
            </a:pPr>
            <a:r>
              <a:rPr lang="en-US" sz="1250" b="1" dirty="0">
                <a:solidFill>
                  <a:srgbClr val="1B2456"/>
                </a:solidFill>
                <a:latin typeface="Calibri" pitchFamily="34" charset="0"/>
                <a:ea typeface="Calibri" pitchFamily="34" charset="-122"/>
                <a:cs typeface="Calibri" pitchFamily="34" charset="-120"/>
              </a:rPr>
              <a:t>Getting Started with Cisco Packet Tracer</a:t>
            </a:r>
            <a:endParaRPr lang="en-US" sz="1250" dirty="0"/>
          </a:p>
        </p:txBody>
      </p:sp>
      <p:sp>
        <p:nvSpPr>
          <p:cNvPr id="7" name="Text 4"/>
          <p:cNvSpPr/>
          <p:nvPr/>
        </p:nvSpPr>
        <p:spPr>
          <a:xfrm>
            <a:off x="822960" y="4892040"/>
            <a:ext cx="3154680" cy="2743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Completed: 16 Jun 2026</a:t>
            </a:r>
            <a:endParaRPr lang="en-US" sz="1050" dirty="0"/>
          </a:p>
        </p:txBody>
      </p:sp>
      <p:sp>
        <p:nvSpPr>
          <p:cNvPr id="8" name="Text 5"/>
          <p:cNvSpPr/>
          <p:nvPr/>
        </p:nvSpPr>
        <p:spPr>
          <a:xfrm>
            <a:off x="822960" y="5138928"/>
            <a:ext cx="3154680" cy="54864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Cert ID: 1be6d875-6098-4d0e-a327-88b4b1cd8c67</a:t>
            </a:r>
            <a:endParaRPr lang="en-US" sz="850" dirty="0"/>
          </a:p>
        </p:txBody>
      </p:sp>
      <p:sp>
        <p:nvSpPr>
          <p:cNvPr id="9" name="Shape 6"/>
          <p:cNvSpPr/>
          <p:nvPr/>
        </p:nvSpPr>
        <p:spPr>
          <a:xfrm>
            <a:off x="4434840" y="1691640"/>
            <a:ext cx="3520440" cy="4434840"/>
          </a:xfrm>
          <a:prstGeom prst="roundRect">
            <a:avLst>
              <a:gd name="adj" fmla="val 1558"/>
            </a:avLst>
          </a:prstGeom>
          <a:solidFill>
            <a:srgbClr val="FFFFFF"/>
          </a:solidFill>
          <a:ln/>
        </p:spPr>
      </p:sp>
      <p:pic>
        <p:nvPicPr>
          <p:cNvPr id="10" name="Image 1" descr="/home/claude/certs/cert2-1.jpg">    </p:cNvPr>
          <p:cNvPicPr>
            <a:picLocks noChangeAspect="1"/>
          </p:cNvPicPr>
          <p:nvPr/>
        </p:nvPicPr>
        <p:blipFill>
          <a:blip r:embed="rId2"/>
          <a:stretch>
            <a:fillRect/>
          </a:stretch>
        </p:blipFill>
        <p:spPr>
          <a:xfrm>
            <a:off x="4572000" y="1828800"/>
            <a:ext cx="3246120" cy="2199255"/>
          </a:xfrm>
          <a:prstGeom prst="rect">
            <a:avLst/>
          </a:prstGeom>
        </p:spPr>
      </p:pic>
      <p:sp>
        <p:nvSpPr>
          <p:cNvPr id="11" name="Text 7"/>
          <p:cNvSpPr/>
          <p:nvPr/>
        </p:nvSpPr>
        <p:spPr>
          <a:xfrm>
            <a:off x="4617720" y="4160520"/>
            <a:ext cx="3154680" cy="685800"/>
          </a:xfrm>
          <a:prstGeom prst="rect">
            <a:avLst/>
          </a:prstGeom>
          <a:noFill/>
          <a:ln/>
        </p:spPr>
        <p:txBody>
          <a:bodyPr wrap="square" lIns="0" tIns="0" rIns="0" bIns="0" rtlCol="0" anchor="ctr"/>
          <a:lstStyle/>
          <a:p>
            <a:pPr indent="0" marL="0">
              <a:lnSpc>
                <a:spcPct val="110000"/>
              </a:lnSpc>
              <a:buNone/>
            </a:pPr>
            <a:r>
              <a:rPr lang="en-US" sz="1250" b="1" dirty="0">
                <a:solidFill>
                  <a:srgbClr val="1B2456"/>
                </a:solidFill>
                <a:latin typeface="Calibri" pitchFamily="34" charset="0"/>
                <a:ea typeface="Calibri" pitchFamily="34" charset="-122"/>
                <a:cs typeface="Calibri" pitchFamily="34" charset="-120"/>
              </a:rPr>
              <a:t>Exploring Networking with Cisco Packet Tracer</a:t>
            </a:r>
            <a:endParaRPr lang="en-US" sz="1250" dirty="0"/>
          </a:p>
        </p:txBody>
      </p:sp>
      <p:sp>
        <p:nvSpPr>
          <p:cNvPr id="12" name="Text 8"/>
          <p:cNvSpPr/>
          <p:nvPr/>
        </p:nvSpPr>
        <p:spPr>
          <a:xfrm>
            <a:off x="4617720" y="4892040"/>
            <a:ext cx="3154680" cy="2743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Completed: 16 Jun 2026</a:t>
            </a:r>
            <a:endParaRPr lang="en-US" sz="1050" dirty="0"/>
          </a:p>
        </p:txBody>
      </p:sp>
      <p:sp>
        <p:nvSpPr>
          <p:cNvPr id="13" name="Text 9"/>
          <p:cNvSpPr/>
          <p:nvPr/>
        </p:nvSpPr>
        <p:spPr>
          <a:xfrm>
            <a:off x="4617720" y="5138928"/>
            <a:ext cx="3154680" cy="54864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Cert ID: c9d7992c-50b8-498f-80d5-7a2ac911e9d8</a:t>
            </a:r>
            <a:endParaRPr lang="en-US" sz="850" dirty="0"/>
          </a:p>
        </p:txBody>
      </p:sp>
      <p:sp>
        <p:nvSpPr>
          <p:cNvPr id="14" name="Shape 10"/>
          <p:cNvSpPr/>
          <p:nvPr/>
        </p:nvSpPr>
        <p:spPr>
          <a:xfrm>
            <a:off x="8229600" y="1691640"/>
            <a:ext cx="3520440" cy="4434840"/>
          </a:xfrm>
          <a:prstGeom prst="roundRect">
            <a:avLst>
              <a:gd name="adj" fmla="val 1558"/>
            </a:avLst>
          </a:prstGeom>
          <a:solidFill>
            <a:srgbClr val="FFFFFF"/>
          </a:solidFill>
          <a:ln/>
        </p:spPr>
      </p:sp>
      <p:pic>
        <p:nvPicPr>
          <p:cNvPr id="15" name="Image 2" descr="/home/claude/certs/cert3-1.jpg">    </p:cNvPr>
          <p:cNvPicPr>
            <a:picLocks noChangeAspect="1"/>
          </p:cNvPicPr>
          <p:nvPr/>
        </p:nvPicPr>
        <p:blipFill>
          <a:blip r:embed="rId3"/>
          <a:stretch>
            <a:fillRect/>
          </a:stretch>
        </p:blipFill>
        <p:spPr>
          <a:xfrm>
            <a:off x="8366760" y="1828800"/>
            <a:ext cx="3246120" cy="2199255"/>
          </a:xfrm>
          <a:prstGeom prst="rect">
            <a:avLst/>
          </a:prstGeom>
        </p:spPr>
      </p:pic>
      <p:sp>
        <p:nvSpPr>
          <p:cNvPr id="16" name="Text 11"/>
          <p:cNvSpPr/>
          <p:nvPr/>
        </p:nvSpPr>
        <p:spPr>
          <a:xfrm>
            <a:off x="8412480" y="4160520"/>
            <a:ext cx="3154680" cy="685800"/>
          </a:xfrm>
          <a:prstGeom prst="rect">
            <a:avLst/>
          </a:prstGeom>
          <a:noFill/>
          <a:ln/>
        </p:spPr>
        <p:txBody>
          <a:bodyPr wrap="square" lIns="0" tIns="0" rIns="0" bIns="0" rtlCol="0" anchor="ctr"/>
          <a:lstStyle/>
          <a:p>
            <a:pPr indent="0" marL="0">
              <a:lnSpc>
                <a:spcPct val="110000"/>
              </a:lnSpc>
              <a:buNone/>
            </a:pPr>
            <a:r>
              <a:rPr lang="en-US" sz="1250" b="1" dirty="0">
                <a:solidFill>
                  <a:srgbClr val="1B2456"/>
                </a:solidFill>
                <a:latin typeface="Calibri" pitchFamily="34" charset="0"/>
                <a:ea typeface="Calibri" pitchFamily="34" charset="-122"/>
                <a:cs typeface="Calibri" pitchFamily="34" charset="-120"/>
              </a:rPr>
              <a:t>Networking Essentials</a:t>
            </a:r>
            <a:endParaRPr lang="en-US" sz="1250" dirty="0"/>
          </a:p>
        </p:txBody>
      </p:sp>
      <p:sp>
        <p:nvSpPr>
          <p:cNvPr id="17" name="Text 12"/>
          <p:cNvSpPr/>
          <p:nvPr/>
        </p:nvSpPr>
        <p:spPr>
          <a:xfrm>
            <a:off x="8412480" y="4892040"/>
            <a:ext cx="3154680" cy="274320"/>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Completed: 20 Jun 2026</a:t>
            </a:r>
            <a:endParaRPr lang="en-US" sz="1050" dirty="0"/>
          </a:p>
        </p:txBody>
      </p:sp>
      <p:sp>
        <p:nvSpPr>
          <p:cNvPr id="18" name="Text 13"/>
          <p:cNvSpPr/>
          <p:nvPr/>
        </p:nvSpPr>
        <p:spPr>
          <a:xfrm>
            <a:off x="8412480" y="5138928"/>
            <a:ext cx="3154680" cy="54864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Cert ID: 03b4dcf6-d0a2-40ca-b4ac-f427d44ff1a1</a:t>
            </a:r>
            <a:endParaRPr lang="en-US" sz="850" dirty="0"/>
          </a:p>
        </p:txBody>
      </p:sp>
      <p:sp>
        <p:nvSpPr>
          <p:cNvPr id="19" name="Text 14"/>
          <p:cNvSpPr/>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891C2"/>
                </a:solidFill>
                <a:latin typeface="Calibri" pitchFamily="34" charset="0"/>
                <a:ea typeface="Calibri" pitchFamily="34" charset="-122"/>
                <a:cs typeface="Calibri" pitchFamily="34" charset="-120"/>
              </a:rPr>
              <a:t>Cisco Networking Academy Internship  •  Yadav Hitesh Shravan</a:t>
            </a:r>
            <a:endParaRPr lang="en-US" sz="900" dirty="0"/>
          </a:p>
        </p:txBody>
      </p:sp>
      <p:sp>
        <p:nvSpPr>
          <p:cNvPr id="20" name="Text 15"/>
          <p:cNvSpPr/>
          <p:nvPr/>
        </p:nvSpPr>
        <p:spPr>
          <a:xfrm>
            <a:off x="11430000" y="6537960"/>
            <a:ext cx="548640" cy="274320"/>
          </a:xfrm>
          <a:prstGeom prst="rect">
            <a:avLst/>
          </a:prstGeom>
          <a:noFill/>
          <a:ln/>
        </p:spPr>
        <p:txBody>
          <a:bodyPr wrap="square" lIns="0" tIns="0" rIns="0" bIns="0" rtlCol="0" anchor="ctr"/>
          <a:lstStyle/>
          <a:p>
            <a:pPr algn="r" indent="0" marL="0">
              <a:buNone/>
            </a:pPr>
            <a:r>
              <a:rPr lang="en-US" sz="900" dirty="0">
                <a:solidFill>
                  <a:srgbClr val="8891C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B41"/>
        </a:solidFill>
      </p:bgPr>
    </p:bg>
    <p:spTree>
      <p:nvGrpSpPr>
        <p:cNvPr id="1" name=""/>
        <p:cNvGrpSpPr/>
        <p:nvPr/>
      </p:nvGrpSpPr>
      <p:grpSpPr>
        <a:xfrm>
          <a:off x="0" y="0"/>
          <a:ext cx="0" cy="0"/>
          <a:chOff x="0" y="0"/>
          <a:chExt cx="0" cy="0"/>
        </a:xfrm>
      </p:grpSpPr>
      <p:sp>
        <p:nvSpPr>
          <p:cNvPr id="2" name="Shape 0"/>
          <p:cNvSpPr/>
          <p:nvPr/>
        </p:nvSpPr>
        <p:spPr>
          <a:xfrm>
            <a:off x="-1828800" y="4114800"/>
            <a:ext cx="5029200" cy="5029200"/>
          </a:xfrm>
          <a:prstGeom prst="ellipse">
            <a:avLst/>
          </a:prstGeom>
          <a:solidFill>
            <a:srgbClr val="1E2761"/>
          </a:solidFill>
          <a:ln/>
        </p:spPr>
      </p:sp>
      <p:sp>
        <p:nvSpPr>
          <p:cNvPr id="3" name="Shape 1"/>
          <p:cNvSpPr/>
          <p:nvPr/>
        </p:nvSpPr>
        <p:spPr>
          <a:xfrm>
            <a:off x="9875520" y="-1828800"/>
            <a:ext cx="5029200" cy="5029200"/>
          </a:xfrm>
          <a:prstGeom prst="ellipse">
            <a:avLst/>
          </a:prstGeom>
          <a:solidFill>
            <a:srgbClr val="1A2352"/>
          </a:solidFill>
          <a:ln/>
        </p:spPr>
      </p:sp>
      <p:pic>
        <p:nvPicPr>
          <p:cNvPr id="4" name="Image 0" descr="/home/claude/certs/iilm_logo_transparent.png">    </p:cNvPr>
          <p:cNvPicPr>
            <a:picLocks noChangeAspect="1"/>
          </p:cNvPicPr>
          <p:nvPr/>
        </p:nvPicPr>
        <p:blipFill>
          <a:blip r:embed="rId1"/>
          <a:stretch>
            <a:fillRect/>
          </a:stretch>
        </p:blipFill>
        <p:spPr>
          <a:xfrm>
            <a:off x="5367528" y="1005840"/>
            <a:ext cx="1463040" cy="667512"/>
          </a:xfrm>
          <a:prstGeom prst="rect">
            <a:avLst/>
          </a:prstGeom>
        </p:spPr>
      </p:pic>
      <p:sp>
        <p:nvSpPr>
          <p:cNvPr id="5" name="Text 2"/>
          <p:cNvSpPr/>
          <p:nvPr/>
        </p:nvSpPr>
        <p:spPr>
          <a:xfrm>
            <a:off x="0" y="2606040"/>
            <a:ext cx="12191695"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6" name="Text 3"/>
          <p:cNvSpPr/>
          <p:nvPr/>
        </p:nvSpPr>
        <p:spPr>
          <a:xfrm>
            <a:off x="0" y="3520440"/>
            <a:ext cx="12191695" cy="365760"/>
          </a:xfrm>
          <a:prstGeom prst="rect">
            <a:avLst/>
          </a:prstGeom>
          <a:noFill/>
          <a:ln/>
        </p:spPr>
        <p:txBody>
          <a:bodyPr wrap="square" lIns="0" tIns="0" rIns="0" bIns="0" rtlCol="0" anchor="ctr"/>
          <a:lstStyle/>
          <a:p>
            <a:pPr algn="ctr" indent="0" marL="0">
              <a:buNone/>
            </a:pPr>
            <a:r>
              <a:rPr lang="en-US" sz="1400" dirty="0">
                <a:solidFill>
                  <a:srgbClr val="C7D0E8"/>
                </a:solidFill>
                <a:latin typeface="Calibri" pitchFamily="34" charset="0"/>
                <a:ea typeface="Calibri" pitchFamily="34" charset="-122"/>
                <a:cs typeface="Calibri" pitchFamily="34" charset="-120"/>
              </a:rPr>
              <a:t>Cisco Networking Academy Internship  |  IILM University, Greater Noida</a:t>
            </a:r>
            <a:endParaRPr lang="en-US" sz="1400" dirty="0"/>
          </a:p>
        </p:txBody>
      </p:sp>
      <p:sp>
        <p:nvSpPr>
          <p:cNvPr id="7" name="Shape 4"/>
          <p:cNvSpPr/>
          <p:nvPr/>
        </p:nvSpPr>
        <p:spPr>
          <a:xfrm>
            <a:off x="5184648" y="4114800"/>
            <a:ext cx="1828800" cy="0"/>
          </a:xfrm>
          <a:prstGeom prst="line">
            <a:avLst/>
          </a:prstGeom>
          <a:noFill/>
          <a:ln w="25400">
            <a:solidFill>
              <a:srgbClr val="F0A93A"/>
            </a:solidFill>
            <a:prstDash val="solid"/>
          </a:ln>
        </p:spPr>
      </p:sp>
      <p:sp>
        <p:nvSpPr>
          <p:cNvPr id="8" name="Text 5"/>
          <p:cNvSpPr/>
          <p:nvPr/>
        </p:nvSpPr>
        <p:spPr>
          <a:xfrm>
            <a:off x="0" y="4297680"/>
            <a:ext cx="12191695"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Yadav Hitesh Shravan</a:t>
            </a:r>
            <a:endParaRPr lang="en-US" sz="1600" dirty="0"/>
          </a:p>
        </p:txBody>
      </p:sp>
      <p:sp>
        <p:nvSpPr>
          <p:cNvPr id="9" name="Text 6"/>
          <p:cNvSpPr/>
          <p:nvPr/>
        </p:nvSpPr>
        <p:spPr>
          <a:xfrm>
            <a:off x="0" y="4645152"/>
            <a:ext cx="12191695" cy="320040"/>
          </a:xfrm>
          <a:prstGeom prst="rect">
            <a:avLst/>
          </a:prstGeom>
          <a:noFill/>
          <a:ln/>
        </p:spPr>
        <p:txBody>
          <a:bodyPr wrap="square" lIns="0" tIns="0" rIns="0" bIns="0" rtlCol="0" anchor="ctr"/>
          <a:lstStyle/>
          <a:p>
            <a:pPr algn="ctr" indent="0" marL="0">
              <a:buNone/>
            </a:pPr>
            <a:r>
              <a:rPr lang="en-US" sz="1250" dirty="0">
                <a:solidFill>
                  <a:srgbClr val="C7D0E8"/>
                </a:solidFill>
                <a:latin typeface="Calibri" pitchFamily="34" charset="0"/>
                <a:ea typeface="Calibri" pitchFamily="34" charset="-122"/>
                <a:cs typeface="Calibri" pitchFamily="34" charset="-120"/>
              </a:rPr>
              <a:t>Roll No. 2410031458  |  Section 3CSE8  |  IILM University, Greater Noida</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2026-08-29T16:22:12Z</dcterms:created>
  <dcterms:modified xsi:type="dcterms:W3CDTF">2026-08-29T16:22:12Z</dcterms:modified>
</cp:coreProperties>
</file>